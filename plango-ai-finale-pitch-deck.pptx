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photo-1527482792272-5ed535e09527" ContentType="image/photo-1527482792272-5ed535e09527"/>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Tuesday, 6 pm in Colombo. Amma is deciding dinner. She forgets the rice is finished. She buys fish someone in the family can't eat. Last week's tomatoes have spoiled. And it's starting to rain. Every Sri Lankan family knows this evening. Around 35% of household food ends up wasted, 20 to 30% of savings are missed from unplanned buying, and hours every week disappear into juggling lists, prices, and diets. This isn't a convenience problem — in this economy, it's a household finance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weeks ago, Gopuff and xAI launched 'Go' — a voice AI that knows your pantry, your weather, your life, and builds your cart before you even ask. This is where grocery is going, globally. But Go works because of 500 American warehouses and American data. No one is building this for the 5.9 million households of Sri Lanka — with our prices, our pola markets, our diets, our power cuts and monsoons. We are. And we didn't wait for permission — we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plango AI is Sri Lanka's family grocery brain. You talk to it like a family member: 'Plan three dinners this week, diabetic-friendly, under 5,000 rupees.' And it does four things. It REMEMBERS — what's already in your pantry, so nothing is bought twice or wasted. It RESPECTS — every family member's allergies and diet rules, checked in code before any AI writes a word. It COMPARES — live prices across Keells, Cargills, and the pola, in rupees, with sources shown. And it ADAPTS — to weather, spoilage risk, traffic, even a supply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been through our codebase in the viva, so I'll say this in one breath. Nine specialist agents behind one orchestrator. Pantry memory with vector search on Supabase. Real price comparison across three retail channels. Dietary safety enforced in code — Gemini explains decisions, it never makes safety decisions. And when an API dies mid-plan, planning continues on cached fallbacks. You verified this yourselves. It's not a wireframe — it's a working system. In fact — even when Gemini itself goes down, plango still produces a plan. Ask us how in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plango plans when you ask. The roadmap takes it to what you saw in that Go video — but localized. Phase one is the planning brain — built and working. Phase two is anticipation: you're low on rice, coconut oil runs out Friday, dhal prices spike next week — it's already on your list. The pantry memory and price pipeline we built are exactly the data this needs. Phase three is fulfillment: one tap to order through retailer partnerships, delivered — on WhatsApp and by voice, in Sinhala and Tamil, meeting families where they already are. Every phase builds on infrastructure that already exists in our repo. This isn't a pivot — it's a straight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won't Google or Gopuff just do this? Three reasons. First, the data moat is local: pola wholesale prices, Sri Lankan recipes, rupee budget behavior, monsoon and crisis patterns — we're capturing data nobody else is collecting. Second, the economics are local: our cost-control engineering — template-first answers, scoped agents, capped tokens — means we can serve a Sri Lankan family at Sri Lankan price points. A US-cost AI stack can't. Third, trust is local: privacy-isolated family data, safety rules in code, sources shown for every claim. And the market is real — 5.9 million households, and groceries are the single largest monthly spend. Save a family even 15% and plango pays for itself many times over — freemium for families, referral revenue from retailers.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Team Terrabytes. In [X weeks], we went from an idea to a nine-agent production system that survived your code review. We're here for the win — and for the backing to put plango into 100 pilot families in Colombo in the next 90 days. The system is ready. The families are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Gopuff needed 500 warehouses and the world's biggest AI lab to build a shopping genius for America. We built one for the Sri Lankan family — it remembers your home, respects your family, and keeps working through the storm. plango AI. Sri Lanka's grocery brain.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hoto-1527482792272-5ed535e09527"/><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https://images.unsplash.com/photo-1527482792272-5ed535e09527?w=1920&amp;q=80">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w="12700">
            <a:solidFill>
              <a:srgbClr val="333333">
                <a:alpha val="0"/>
              </a:srgbClr>
            </a:solidFill>
            <a:prstDash val="solid"/>
          </a:ln>
        </p:spPr>
      </p:sp>
      <p:sp>
        <p:nvSpPr>
          <p:cNvPr id="4" name="Text 1"/>
          <p:cNvSpPr/>
          <p:nvPr/>
        </p:nvSpPr>
        <p:spPr>
          <a:xfrm>
            <a:off x="411480" y="256032"/>
            <a:ext cx="1828800" cy="320040"/>
          </a:xfrm>
          <a:prstGeom prst="rect">
            <a:avLst/>
          </a:prstGeom>
          <a:noFill/>
          <a:ln/>
        </p:spPr>
        <p:txBody>
          <a:bodyPr wrap="square" rtlCol="0" anchor="ctr"/>
          <a:lstStyle/>
          <a:p>
            <a:pPr indent="0" marL="0">
              <a:buNone/>
            </a:pPr>
            <a:r>
              <a:rPr lang="en-US" sz="1100" b="1" i="1" dirty="0">
                <a:solidFill>
                  <a:srgbClr val="22C55E"/>
                </a:solidFill>
                <a:latin typeface="Calibri" pitchFamily="34" charset="0"/>
                <a:ea typeface="Calibri" pitchFamily="34" charset="-122"/>
                <a:cs typeface="Calibri" pitchFamily="34" charset="-120"/>
              </a:rPr>
              <a:t>plango AI</a:t>
            </a:r>
            <a:endParaRPr lang="en-US" sz="1100" dirty="0"/>
          </a:p>
        </p:txBody>
      </p:sp>
      <p:sp>
        <p:nvSpPr>
          <p:cNvPr id="5" name="Text 2"/>
          <p:cNvSpPr/>
          <p:nvPr/>
        </p:nvSpPr>
        <p:spPr>
          <a:xfrm>
            <a:off x="8321040" y="256032"/>
            <a:ext cx="457200" cy="32004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a:t>
            </a:r>
            <a:endParaRPr lang="en-US" sz="1000" dirty="0"/>
          </a:p>
        </p:txBody>
      </p:sp>
      <p:sp>
        <p:nvSpPr>
          <p:cNvPr id="6" name="Text 3"/>
          <p:cNvSpPr/>
          <p:nvPr/>
        </p:nvSpPr>
        <p:spPr>
          <a:xfrm>
            <a:off x="502920" y="1005840"/>
            <a:ext cx="8138160" cy="685800"/>
          </a:xfrm>
          <a:prstGeom prst="rect">
            <a:avLst/>
          </a:prstGeom>
          <a:noFill/>
          <a:ln/>
        </p:spPr>
        <p:txBody>
          <a:bodyPr wrap="square" rtlCol="0" anchor="ctr"/>
          <a:lstStyle/>
          <a:p>
            <a:pPr indent="0" marL="0">
              <a:buNone/>
            </a:pPr>
            <a:r>
              <a:rPr lang="en-US" sz="3200" b="1" dirty="0">
                <a:solidFill>
                  <a:srgbClr val="F8FAFC"/>
                </a:solidFill>
                <a:latin typeface="Georgia" pitchFamily="34" charset="0"/>
                <a:ea typeface="Georgia" pitchFamily="34" charset="-122"/>
                <a:cs typeface="Georgia" pitchFamily="34" charset="-120"/>
              </a:rPr>
              <a:t>Tuesday, 6 PM, Colombo.</a:t>
            </a:r>
            <a:endParaRPr lang="en-US" sz="3200" dirty="0"/>
          </a:p>
        </p:txBody>
      </p:sp>
      <p:sp>
        <p:nvSpPr>
          <p:cNvPr id="7" name="Text 4"/>
          <p:cNvSpPr/>
          <p:nvPr/>
        </p:nvSpPr>
        <p:spPr>
          <a:xfrm>
            <a:off x="502920" y="1965960"/>
            <a:ext cx="7772400" cy="82296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35% of food wasted · 20–30% savings missed · hours lost every week</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256032"/>
            <a:ext cx="1828800" cy="320040"/>
          </a:xfrm>
          <a:prstGeom prst="rect">
            <a:avLst/>
          </a:prstGeom>
          <a:noFill/>
          <a:ln/>
        </p:spPr>
        <p:txBody>
          <a:bodyPr wrap="square" rtlCol="0" anchor="ctr"/>
          <a:lstStyle/>
          <a:p>
            <a:pPr indent="0" marL="0">
              <a:buNone/>
            </a:pPr>
            <a:r>
              <a:rPr lang="en-US" sz="1100" b="1" i="1" dirty="0">
                <a:solidFill>
                  <a:srgbClr val="22C55E"/>
                </a:solidFill>
                <a:latin typeface="Calibri" pitchFamily="34" charset="0"/>
                <a:ea typeface="Calibri" pitchFamily="34" charset="-122"/>
                <a:cs typeface="Calibri" pitchFamily="34" charset="-120"/>
              </a:rPr>
              <a:t>plango AI</a:t>
            </a:r>
            <a:endParaRPr lang="en-US" sz="1100" dirty="0"/>
          </a:p>
        </p:txBody>
      </p:sp>
      <p:sp>
        <p:nvSpPr>
          <p:cNvPr id="3" name="Text 1"/>
          <p:cNvSpPr/>
          <p:nvPr/>
        </p:nvSpPr>
        <p:spPr>
          <a:xfrm>
            <a:off x="8321040" y="256032"/>
            <a:ext cx="457200" cy="32004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4" name="Text 2"/>
          <p:cNvSpPr/>
          <p:nvPr/>
        </p:nvSpPr>
        <p:spPr>
          <a:xfrm>
            <a:off x="502920" y="777240"/>
            <a:ext cx="8138160" cy="685800"/>
          </a:xfrm>
          <a:prstGeom prst="rect">
            <a:avLst/>
          </a:prstGeom>
          <a:noFill/>
          <a:ln/>
        </p:spPr>
        <p:txBody>
          <a:bodyPr wrap="square" rtlCol="0" anchor="ctr"/>
          <a:lstStyle/>
          <a:p>
            <a:pPr indent="0" marL="0">
              <a:buNone/>
            </a:pPr>
            <a:r>
              <a:rPr lang="en-US" sz="3200" b="1" dirty="0">
                <a:solidFill>
                  <a:srgbClr val="F8FAFC"/>
                </a:solidFill>
                <a:latin typeface="Georgia" pitchFamily="34" charset="0"/>
                <a:ea typeface="Georgia" pitchFamily="34" charset="-122"/>
                <a:cs typeface="Georgia" pitchFamily="34" charset="-120"/>
              </a:rPr>
              <a:t>The "personal shopping genius" is here.</a:t>
            </a:r>
            <a:endParaRPr lang="en-US" sz="3200" dirty="0"/>
          </a:p>
        </p:txBody>
      </p:sp>
      <p:sp>
        <p:nvSpPr>
          <p:cNvPr id="5" name="Shape 3"/>
          <p:cNvSpPr/>
          <p:nvPr/>
        </p:nvSpPr>
        <p:spPr>
          <a:xfrm>
            <a:off x="502920" y="1600200"/>
            <a:ext cx="3840480" cy="2606040"/>
          </a:xfrm>
          <a:prstGeom prst="rect">
            <a:avLst>
              <a:gd name="adj" fmla="val 2807"/>
            </a:avLst>
          </a:prstGeom>
          <a:solidFill>
            <a:srgbClr val="1E293B"/>
          </a:solidFill>
          <a:ln w="12700">
            <a:solidFill>
              <a:srgbClr val="64748B"/>
            </a:solidFill>
            <a:prstDash val="solid"/>
          </a:ln>
        </p:spPr>
      </p:sp>
      <p:sp>
        <p:nvSpPr>
          <p:cNvPr id="6" name="Text 4"/>
          <p:cNvSpPr/>
          <p:nvPr/>
        </p:nvSpPr>
        <p:spPr>
          <a:xfrm>
            <a:off x="685800" y="1828800"/>
            <a:ext cx="3474720" cy="457200"/>
          </a:xfrm>
          <a:prstGeom prst="rect">
            <a:avLst/>
          </a:prstGeom>
          <a:noFill/>
          <a:ln/>
        </p:spPr>
        <p:txBody>
          <a:bodyPr wrap="square" rtlCol="0" anchor="ctr"/>
          <a:lstStyle/>
          <a:p>
            <a:pPr indent="0" marL="0">
              <a:buNone/>
            </a:pPr>
            <a:r>
              <a:rPr lang="en-US" sz="2200" b="1" dirty="0">
                <a:solidFill>
                  <a:srgbClr val="F97316"/>
                </a:solidFill>
                <a:latin typeface="Calibri" pitchFamily="34" charset="0"/>
                <a:ea typeface="Calibri" pitchFamily="34" charset="-122"/>
                <a:cs typeface="Calibri" pitchFamily="34" charset="-120"/>
              </a:rPr>
              <a:t>Gopuff × xAI</a:t>
            </a:r>
            <a:endParaRPr lang="en-US" sz="2200" dirty="0"/>
          </a:p>
        </p:txBody>
      </p:sp>
      <p:sp>
        <p:nvSpPr>
          <p:cNvPr id="7" name="Text 5"/>
          <p:cNvSpPr/>
          <p:nvPr/>
        </p:nvSpPr>
        <p:spPr>
          <a:xfrm>
            <a:off x="685800" y="2331720"/>
            <a:ext cx="3474720" cy="822960"/>
          </a:xfrm>
          <a:prstGeom prst="rect">
            <a:avLst/>
          </a:prstGeom>
          <a:noFill/>
          <a:ln/>
        </p:spPr>
        <p:txBody>
          <a:bodyPr wrap="square" rtlCol="0" anchor="ctr"/>
          <a:lstStyle/>
          <a:p>
            <a:pPr indent="0" marL="0">
              <a:buNone/>
            </a:pPr>
            <a:r>
              <a:rPr lang="en-US" sz="4800" b="1" dirty="0">
                <a:solidFill>
                  <a:srgbClr val="F8FAFC"/>
                </a:solidFill>
                <a:latin typeface="Georgia" pitchFamily="34" charset="0"/>
                <a:ea typeface="Georgia" pitchFamily="34" charset="-122"/>
                <a:cs typeface="Georgia" pitchFamily="34" charset="-120"/>
              </a:rPr>
              <a:t>Go</a:t>
            </a:r>
            <a:endParaRPr lang="en-US" sz="4800" dirty="0"/>
          </a:p>
        </p:txBody>
      </p:sp>
      <p:sp>
        <p:nvSpPr>
          <p:cNvPr id="8" name="Text 6"/>
          <p:cNvSpPr/>
          <p:nvPr/>
        </p:nvSpPr>
        <p:spPr>
          <a:xfrm>
            <a:off x="685800" y="3154680"/>
            <a:ext cx="3474720" cy="45720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Voice AI cart · 500 US warehouses · 2026</a:t>
            </a:r>
            <a:endParaRPr lang="en-US" sz="1300" dirty="0"/>
          </a:p>
        </p:txBody>
      </p:sp>
      <p:sp>
        <p:nvSpPr>
          <p:cNvPr id="9" name="Shape 7"/>
          <p:cNvSpPr/>
          <p:nvPr/>
        </p:nvSpPr>
        <p:spPr>
          <a:xfrm>
            <a:off x="4572000" y="1600200"/>
            <a:ext cx="4069080" cy="2606040"/>
          </a:xfrm>
          <a:prstGeom prst="rect">
            <a:avLst>
              <a:gd name="adj" fmla="val 2807"/>
            </a:avLst>
          </a:prstGeom>
          <a:solidFill>
            <a:srgbClr val="1E293B"/>
          </a:solidFill>
          <a:ln w="12700">
            <a:solidFill>
              <a:srgbClr val="64748B"/>
            </a:solidFill>
            <a:prstDash val="solid"/>
          </a:ln>
        </p:spPr>
      </p:sp>
      <p:sp>
        <p:nvSpPr>
          <p:cNvPr id="10" name="Shape 8"/>
          <p:cNvSpPr/>
          <p:nvPr/>
        </p:nvSpPr>
        <p:spPr>
          <a:xfrm>
            <a:off x="5577840" y="2148840"/>
            <a:ext cx="2011680" cy="1737360"/>
          </a:xfrm>
          <a:prstGeom prst="ellipse">
            <a:avLst/>
          </a:prstGeom>
          <a:solidFill>
            <a:srgbClr val="14532D">
              <a:alpha val="70000"/>
            </a:srgbClr>
          </a:solidFill>
          <a:ln w="12700">
            <a:solidFill>
              <a:srgbClr val="22C55E"/>
            </a:solidFill>
            <a:prstDash val="solid"/>
          </a:ln>
        </p:spPr>
      </p:sp>
      <p:sp>
        <p:nvSpPr>
          <p:cNvPr id="11" name="Text 9"/>
          <p:cNvSpPr/>
          <p:nvPr/>
        </p:nvSpPr>
        <p:spPr>
          <a:xfrm>
            <a:off x="4754880" y="2331720"/>
            <a:ext cx="3749040" cy="457200"/>
          </a:xfrm>
          <a:prstGeom prst="rect">
            <a:avLst/>
          </a:prstGeom>
          <a:noFill/>
          <a:ln/>
        </p:spPr>
        <p:txBody>
          <a:bodyPr wrap="square"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Sri Lanka</a:t>
            </a:r>
            <a:endParaRPr lang="en-US" sz="1600" dirty="0"/>
          </a:p>
        </p:txBody>
      </p:sp>
      <p:sp>
        <p:nvSpPr>
          <p:cNvPr id="12" name="Text 10"/>
          <p:cNvSpPr/>
          <p:nvPr/>
        </p:nvSpPr>
        <p:spPr>
          <a:xfrm>
            <a:off x="4572000" y="4343400"/>
            <a:ext cx="4069080" cy="502920"/>
          </a:xfrm>
          <a:prstGeom prst="rect">
            <a:avLst/>
          </a:prstGeom>
          <a:noFill/>
          <a:ln/>
        </p:spPr>
        <p:txBody>
          <a:bodyPr wrap="square" rtlCol="0" anchor="ctr"/>
          <a:lstStyle/>
          <a:p>
            <a:pPr algn="ctr" indent="0" marL="0">
              <a:buNone/>
            </a:pPr>
            <a:r>
              <a:rPr lang="en-US" sz="1600" b="1" dirty="0">
                <a:solidFill>
                  <a:srgbClr val="F8FAFC"/>
                </a:solidFill>
                <a:latin typeface="Calibri" pitchFamily="34" charset="0"/>
                <a:ea typeface="Calibri" pitchFamily="34" charset="-122"/>
                <a:cs typeface="Calibri" pitchFamily="34" charset="-120"/>
              </a:rPr>
              <a:t>Nobody is building this for Sri Lanka.</a:t>
            </a:r>
            <a:endParaRPr lang="en-US" sz="1600" dirty="0"/>
          </a:p>
        </p:txBody>
      </p:sp>
      <p:sp>
        <p:nvSpPr>
          <p:cNvPr id="13" name="Text 11"/>
          <p:cNvSpPr/>
          <p:nvPr/>
        </p:nvSpPr>
        <p:spPr>
          <a:xfrm>
            <a:off x="502920" y="4343400"/>
            <a:ext cx="3840480" cy="64008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Gopuff × xAI launched "Go" — 2026</a:t>
            </a:r>
            <a:endParaRPr lang="en-US" sz="1400" dirty="0"/>
          </a:p>
          <a:p>
            <a:pPr indent="0" marL="0">
              <a:buNone/>
            </a:pPr>
            <a:r>
              <a:rPr lang="en-US" sz="1400" dirty="0">
                <a:solidFill>
                  <a:srgbClr val="94A3B8"/>
                </a:solidFill>
                <a:latin typeface="Calibri" pitchFamily="34" charset="0"/>
                <a:ea typeface="Calibri" pitchFamily="34" charset="-122"/>
                <a:cs typeface="Calibri" pitchFamily="34" charset="-120"/>
              </a:rPr>
              <a:t>Built on 500 US warehouses. Built for America.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256032"/>
            <a:ext cx="1828800" cy="320040"/>
          </a:xfrm>
          <a:prstGeom prst="rect">
            <a:avLst/>
          </a:prstGeom>
          <a:noFill/>
          <a:ln/>
        </p:spPr>
        <p:txBody>
          <a:bodyPr wrap="square" rtlCol="0" anchor="ctr"/>
          <a:lstStyle/>
          <a:p>
            <a:pPr indent="0" marL="0">
              <a:buNone/>
            </a:pPr>
            <a:r>
              <a:rPr lang="en-US" sz="1100" b="1" i="1" dirty="0">
                <a:solidFill>
                  <a:srgbClr val="22C55E"/>
                </a:solidFill>
                <a:latin typeface="Calibri" pitchFamily="34" charset="0"/>
                <a:ea typeface="Calibri" pitchFamily="34" charset="-122"/>
                <a:cs typeface="Calibri" pitchFamily="34" charset="-120"/>
              </a:rPr>
              <a:t>plango AI</a:t>
            </a:r>
            <a:endParaRPr lang="en-US" sz="1100" dirty="0"/>
          </a:p>
        </p:txBody>
      </p:sp>
      <p:sp>
        <p:nvSpPr>
          <p:cNvPr id="3" name="Text 1"/>
          <p:cNvSpPr/>
          <p:nvPr/>
        </p:nvSpPr>
        <p:spPr>
          <a:xfrm>
            <a:off x="8321040" y="256032"/>
            <a:ext cx="457200" cy="32004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4" name="Text 2"/>
          <p:cNvSpPr/>
          <p:nvPr/>
        </p:nvSpPr>
        <p:spPr>
          <a:xfrm>
            <a:off x="502920" y="777240"/>
            <a:ext cx="8138160" cy="685800"/>
          </a:xfrm>
          <a:prstGeom prst="rect">
            <a:avLst/>
          </a:prstGeom>
          <a:noFill/>
          <a:ln/>
        </p:spPr>
        <p:txBody>
          <a:bodyPr wrap="square" rtlCol="0" anchor="ctr"/>
          <a:lstStyle/>
          <a:p>
            <a:pPr indent="0" marL="0">
              <a:buNone/>
            </a:pPr>
            <a:r>
              <a:rPr lang="en-US" sz="3200" b="1" dirty="0">
                <a:solidFill>
                  <a:srgbClr val="F8FAFC"/>
                </a:solidFill>
                <a:latin typeface="Georgia" pitchFamily="34" charset="0"/>
                <a:ea typeface="Georgia" pitchFamily="34" charset="-122"/>
                <a:cs typeface="Georgia" pitchFamily="34" charset="-120"/>
              </a:rPr>
              <a:t>One conversation → a full grocery plan.</a:t>
            </a:r>
            <a:endParaRPr lang="en-US" sz="3200" dirty="0"/>
          </a:p>
        </p:txBody>
      </p:sp>
      <p:sp>
        <p:nvSpPr>
          <p:cNvPr id="5" name="Shape 3"/>
          <p:cNvSpPr/>
          <p:nvPr/>
        </p:nvSpPr>
        <p:spPr>
          <a:xfrm>
            <a:off x="502920" y="1508760"/>
            <a:ext cx="5029200" cy="3063240"/>
          </a:xfrm>
          <a:prstGeom prst="rect">
            <a:avLst>
              <a:gd name="adj" fmla="val 2985"/>
            </a:avLst>
          </a:prstGeom>
          <a:solidFill>
            <a:srgbClr val="1E293B"/>
          </a:solidFill>
          <a:ln w="12700">
            <a:solidFill>
              <a:srgbClr val="64748B"/>
            </a:solidFill>
            <a:prstDash val="solid"/>
          </a:ln>
        </p:spPr>
      </p:sp>
      <p:sp>
        <p:nvSpPr>
          <p:cNvPr id="6" name="Text 4"/>
          <p:cNvSpPr/>
          <p:nvPr/>
        </p:nvSpPr>
        <p:spPr>
          <a:xfrm>
            <a:off x="685800" y="1691640"/>
            <a:ext cx="466344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plango chat</a:t>
            </a:r>
            <a:endParaRPr lang="en-US" sz="1000" dirty="0"/>
          </a:p>
        </p:txBody>
      </p:sp>
      <p:sp>
        <p:nvSpPr>
          <p:cNvPr id="7" name="Text 5"/>
          <p:cNvSpPr/>
          <p:nvPr/>
        </p:nvSpPr>
        <p:spPr>
          <a:xfrm>
            <a:off x="685800" y="2057400"/>
            <a:ext cx="4663440" cy="411480"/>
          </a:xfrm>
          <a:prstGeom prst="rect">
            <a:avLst>
              <a:gd name="adj" fmla="val 11111"/>
            </a:avLst>
          </a:prstGeom>
          <a:solidFill>
            <a:srgbClr val="334155"/>
          </a:solidFill>
          <a:ln/>
        </p:spPr>
        <p:txBody>
          <a:bodyPr wrap="square" rtlCol="0" anchor="ctr"/>
          <a:lstStyle/>
          <a:p>
            <a:pPr indent="0" marL="0">
              <a:buNone/>
            </a:pPr>
            <a:r>
              <a:rPr lang="en-US" sz="1200" dirty="0">
                <a:solidFill>
                  <a:srgbClr val="F8FAFC"/>
                </a:solidFill>
                <a:latin typeface="Calibri" pitchFamily="34" charset="0"/>
                <a:ea typeface="Calibri" pitchFamily="34" charset="-122"/>
                <a:cs typeface="Calibri" pitchFamily="34" charset="-120"/>
              </a:rPr>
              <a:t>Plan 3 dinners — diabetic-friendly, under Rs 5,000</a:t>
            </a:r>
            <a:endParaRPr lang="en-US" sz="1200" dirty="0"/>
          </a:p>
        </p:txBody>
      </p:sp>
      <p:sp>
        <p:nvSpPr>
          <p:cNvPr id="8" name="Text 6"/>
          <p:cNvSpPr/>
          <p:nvPr/>
        </p:nvSpPr>
        <p:spPr>
          <a:xfrm>
            <a:off x="685800" y="2606040"/>
            <a:ext cx="4663440" cy="1828800"/>
          </a:xfrm>
          <a:prstGeom prst="rect">
            <a:avLst/>
          </a:prstGeom>
          <a:noFill/>
          <a:ln/>
        </p:spPr>
        <p:txBody>
          <a:bodyPr wrap="square" rtlCol="0" anchor="ctr"/>
          <a:lstStyle/>
          <a:p>
            <a:pPr indent="0" marL="0">
              <a:lnSpc>
                <a:spcPct val="130000"/>
              </a:lnSpc>
              <a:buNone/>
            </a:pPr>
            <a:r>
              <a:rPr lang="en-US" sz="1300" dirty="0">
                <a:solidFill>
                  <a:srgbClr val="94A3B8"/>
                </a:solidFill>
                <a:latin typeface="Calibri" pitchFamily="34" charset="0"/>
                <a:ea typeface="Calibri" pitchFamily="34" charset="-122"/>
                <a:cs typeface="Calibri" pitchFamily="34" charset="-120"/>
              </a:rPr>
              <a:t>✓ 3 meal plan · shopping list · Rs 4,240 est.</a:t>
            </a:r>
            <a:endParaRPr lang="en-US" sz="1300" dirty="0"/>
          </a:p>
          <a:p>
            <a:pPr indent="0" marL="0">
              <a:lnSpc>
                <a:spcPct val="130000"/>
              </a:lnSpc>
              <a:buNone/>
            </a:pPr>
            <a:r>
              <a:rPr lang="en-US" sz="1300" dirty="0">
                <a:solidFill>
                  <a:srgbClr val="94A3B8"/>
                </a:solidFill>
                <a:latin typeface="Calibri" pitchFamily="34" charset="0"/>
                <a:ea typeface="Calibri" pitchFamily="34" charset="-122"/>
                <a:cs typeface="Calibri" pitchFamily="34" charset="-120"/>
              </a:rPr>
              <a:t>✓ Keells vs Cargills vs pola sources shown</a:t>
            </a:r>
            <a:endParaRPr lang="en-US" sz="1300" dirty="0"/>
          </a:p>
          <a:p>
            <a:pPr indent="0" marL="0">
              <a:lnSpc>
                <a:spcPct val="130000"/>
              </a:lnSpc>
              <a:buNone/>
            </a:pPr>
            <a:r>
              <a:rPr lang="en-US" sz="1300" dirty="0">
                <a:solidFill>
                  <a:srgbClr val="94A3B8"/>
                </a:solidFill>
                <a:latin typeface="Calibri" pitchFamily="34" charset="0"/>
                <a:ea typeface="Calibri" pitchFamily="34" charset="-122"/>
                <a:cs typeface="Calibri" pitchFamily="34" charset="-120"/>
              </a:rPr>
              <a:t>✓ Diet rules passed (diabetic-safe)</a:t>
            </a:r>
            <a:endParaRPr lang="en-US" sz="1300" dirty="0"/>
          </a:p>
        </p:txBody>
      </p:sp>
      <p:sp>
        <p:nvSpPr>
          <p:cNvPr id="9" name="Shape 7"/>
          <p:cNvSpPr/>
          <p:nvPr/>
        </p:nvSpPr>
        <p:spPr>
          <a:xfrm>
            <a:off x="5806440" y="1691640"/>
            <a:ext cx="1417320" cy="1097280"/>
          </a:xfrm>
          <a:prstGeom prst="rect">
            <a:avLst>
              <a:gd name="adj" fmla="val 6667"/>
            </a:avLst>
          </a:prstGeom>
          <a:solidFill>
            <a:srgbClr val="1E293B"/>
          </a:solidFill>
          <a:ln w="12700">
            <a:solidFill>
              <a:srgbClr val="22C55E"/>
            </a:solidFill>
            <a:prstDash val="solid"/>
          </a:ln>
        </p:spPr>
      </p:sp>
      <p:sp>
        <p:nvSpPr>
          <p:cNvPr id="10" name="Text 8"/>
          <p:cNvSpPr/>
          <p:nvPr/>
        </p:nvSpPr>
        <p:spPr>
          <a:xfrm>
            <a:off x="5806440" y="2011680"/>
            <a:ext cx="1417320" cy="457200"/>
          </a:xfrm>
          <a:prstGeom prst="rect">
            <a:avLst/>
          </a:prstGeom>
          <a:noFill/>
          <a:ln/>
        </p:spPr>
        <p:txBody>
          <a:bodyPr wrap="square"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 Remembers</a:t>
            </a:r>
            <a:endParaRPr lang="en-US" sz="1400" dirty="0"/>
          </a:p>
        </p:txBody>
      </p:sp>
      <p:sp>
        <p:nvSpPr>
          <p:cNvPr id="11" name="Shape 9"/>
          <p:cNvSpPr/>
          <p:nvPr/>
        </p:nvSpPr>
        <p:spPr>
          <a:xfrm>
            <a:off x="7406640" y="1691640"/>
            <a:ext cx="1417320" cy="1097280"/>
          </a:xfrm>
          <a:prstGeom prst="rect">
            <a:avLst>
              <a:gd name="adj" fmla="val 6667"/>
            </a:avLst>
          </a:prstGeom>
          <a:solidFill>
            <a:srgbClr val="1E293B"/>
          </a:solidFill>
          <a:ln w="12700">
            <a:solidFill>
              <a:srgbClr val="22C55E"/>
            </a:solidFill>
            <a:prstDash val="solid"/>
          </a:ln>
        </p:spPr>
      </p:sp>
      <p:sp>
        <p:nvSpPr>
          <p:cNvPr id="12" name="Text 10"/>
          <p:cNvSpPr/>
          <p:nvPr/>
        </p:nvSpPr>
        <p:spPr>
          <a:xfrm>
            <a:off x="7406640" y="2011680"/>
            <a:ext cx="1417320" cy="457200"/>
          </a:xfrm>
          <a:prstGeom prst="rect">
            <a:avLst/>
          </a:prstGeom>
          <a:noFill/>
          <a:ln/>
        </p:spPr>
        <p:txBody>
          <a:bodyPr wrap="square"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 Respects</a:t>
            </a:r>
            <a:endParaRPr lang="en-US" sz="1400" dirty="0"/>
          </a:p>
        </p:txBody>
      </p:sp>
      <p:sp>
        <p:nvSpPr>
          <p:cNvPr id="13" name="Shape 11"/>
          <p:cNvSpPr/>
          <p:nvPr/>
        </p:nvSpPr>
        <p:spPr>
          <a:xfrm>
            <a:off x="5806440" y="3108960"/>
            <a:ext cx="1417320" cy="1097280"/>
          </a:xfrm>
          <a:prstGeom prst="rect">
            <a:avLst>
              <a:gd name="adj" fmla="val 6667"/>
            </a:avLst>
          </a:prstGeom>
          <a:solidFill>
            <a:srgbClr val="1E293B"/>
          </a:solidFill>
          <a:ln w="12700">
            <a:solidFill>
              <a:srgbClr val="22C55E"/>
            </a:solidFill>
            <a:prstDash val="solid"/>
          </a:ln>
        </p:spPr>
      </p:sp>
      <p:sp>
        <p:nvSpPr>
          <p:cNvPr id="14" name="Text 12"/>
          <p:cNvSpPr/>
          <p:nvPr/>
        </p:nvSpPr>
        <p:spPr>
          <a:xfrm>
            <a:off x="5806440" y="3429000"/>
            <a:ext cx="1417320" cy="457200"/>
          </a:xfrm>
          <a:prstGeom prst="rect">
            <a:avLst/>
          </a:prstGeom>
          <a:noFill/>
          <a:ln/>
        </p:spPr>
        <p:txBody>
          <a:bodyPr wrap="square"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 Compares</a:t>
            </a:r>
            <a:endParaRPr lang="en-US" sz="1400" dirty="0"/>
          </a:p>
        </p:txBody>
      </p:sp>
      <p:sp>
        <p:nvSpPr>
          <p:cNvPr id="15" name="Shape 13"/>
          <p:cNvSpPr/>
          <p:nvPr/>
        </p:nvSpPr>
        <p:spPr>
          <a:xfrm>
            <a:off x="7406640" y="3108960"/>
            <a:ext cx="1417320" cy="1097280"/>
          </a:xfrm>
          <a:prstGeom prst="rect">
            <a:avLst>
              <a:gd name="adj" fmla="val 6667"/>
            </a:avLst>
          </a:prstGeom>
          <a:solidFill>
            <a:srgbClr val="1E293B"/>
          </a:solidFill>
          <a:ln w="12700">
            <a:solidFill>
              <a:srgbClr val="22C55E"/>
            </a:solidFill>
            <a:prstDash val="solid"/>
          </a:ln>
        </p:spPr>
      </p:sp>
      <p:sp>
        <p:nvSpPr>
          <p:cNvPr id="16" name="Text 14"/>
          <p:cNvSpPr/>
          <p:nvPr/>
        </p:nvSpPr>
        <p:spPr>
          <a:xfrm>
            <a:off x="7406640" y="3429000"/>
            <a:ext cx="1417320" cy="457200"/>
          </a:xfrm>
          <a:prstGeom prst="rect">
            <a:avLst/>
          </a:prstGeom>
          <a:noFill/>
          <a:ln/>
        </p:spPr>
        <p:txBody>
          <a:bodyPr wrap="square"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 Adapts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256032"/>
            <a:ext cx="1828800" cy="320040"/>
          </a:xfrm>
          <a:prstGeom prst="rect">
            <a:avLst/>
          </a:prstGeom>
          <a:noFill/>
          <a:ln/>
        </p:spPr>
        <p:txBody>
          <a:bodyPr wrap="square" rtlCol="0" anchor="ctr"/>
          <a:lstStyle/>
          <a:p>
            <a:pPr indent="0" marL="0">
              <a:buNone/>
            </a:pPr>
            <a:r>
              <a:rPr lang="en-US" sz="1100" b="1" i="1" dirty="0">
                <a:solidFill>
                  <a:srgbClr val="22C55E"/>
                </a:solidFill>
                <a:latin typeface="Calibri" pitchFamily="34" charset="0"/>
                <a:ea typeface="Calibri" pitchFamily="34" charset="-122"/>
                <a:cs typeface="Calibri" pitchFamily="34" charset="-120"/>
              </a:rPr>
              <a:t>plango AI</a:t>
            </a:r>
            <a:endParaRPr lang="en-US" sz="1100" dirty="0"/>
          </a:p>
        </p:txBody>
      </p:sp>
      <p:sp>
        <p:nvSpPr>
          <p:cNvPr id="3" name="Text 1"/>
          <p:cNvSpPr/>
          <p:nvPr/>
        </p:nvSpPr>
        <p:spPr>
          <a:xfrm>
            <a:off x="8321040" y="256032"/>
            <a:ext cx="457200" cy="32004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
        <p:nvSpPr>
          <p:cNvPr id="4" name="Text 2"/>
          <p:cNvSpPr/>
          <p:nvPr/>
        </p:nvSpPr>
        <p:spPr>
          <a:xfrm>
            <a:off x="502920" y="777240"/>
            <a:ext cx="8138160" cy="685800"/>
          </a:xfrm>
          <a:prstGeom prst="rect">
            <a:avLst/>
          </a:prstGeom>
          <a:noFill/>
          <a:ln/>
        </p:spPr>
        <p:txBody>
          <a:bodyPr wrap="square" rtlCol="0" anchor="ctr"/>
          <a:lstStyle/>
          <a:p>
            <a:pPr indent="0" marL="0">
              <a:buNone/>
            </a:pPr>
            <a:r>
              <a:rPr lang="en-US" sz="3200" b="1" dirty="0">
                <a:solidFill>
                  <a:srgbClr val="F8FAFC"/>
                </a:solidFill>
                <a:latin typeface="Georgia" pitchFamily="34" charset="0"/>
                <a:ea typeface="Georgia" pitchFamily="34" charset="-122"/>
                <a:cs typeface="Georgia" pitchFamily="34" charset="-120"/>
              </a:rPr>
              <a:t>Not a wireframe. A working system.</a:t>
            </a:r>
            <a:endParaRPr lang="en-US" sz="3200" dirty="0"/>
          </a:p>
        </p:txBody>
      </p:sp>
      <p:sp>
        <p:nvSpPr>
          <p:cNvPr id="5" name="Shape 3"/>
          <p:cNvSpPr/>
          <p:nvPr/>
        </p:nvSpPr>
        <p:spPr>
          <a:xfrm>
            <a:off x="4069080" y="2240280"/>
            <a:ext cx="1005840" cy="731520"/>
          </a:xfrm>
          <a:prstGeom prst="ellipse">
            <a:avLst/>
          </a:prstGeom>
          <a:solidFill>
            <a:srgbClr val="14532D"/>
          </a:solidFill>
          <a:ln w="12700">
            <a:solidFill>
              <a:srgbClr val="22C55E"/>
            </a:solidFill>
            <a:prstDash val="solid"/>
          </a:ln>
        </p:spPr>
      </p:sp>
      <p:sp>
        <p:nvSpPr>
          <p:cNvPr id="6" name="Text 4"/>
          <p:cNvSpPr/>
          <p:nvPr/>
        </p:nvSpPr>
        <p:spPr>
          <a:xfrm>
            <a:off x="4069080" y="2350008"/>
            <a:ext cx="1005840" cy="457200"/>
          </a:xfrm>
          <a:prstGeom prst="rect">
            <a:avLst/>
          </a:prstGeom>
          <a:noFill/>
          <a:ln/>
        </p:spPr>
        <p:txBody>
          <a:bodyPr wrap="square" rtlCol="0" anchor="ctr"/>
          <a:lstStyle/>
          <a:p>
            <a:pPr algn="ctr" indent="0" marL="0">
              <a:buNone/>
            </a:pPr>
            <a:r>
              <a:rPr lang="en-US" sz="1000" b="1" dirty="0">
                <a:solidFill>
                  <a:srgbClr val="F8FAFC"/>
                </a:solidFill>
                <a:latin typeface="Calibri" pitchFamily="34" charset="0"/>
                <a:ea typeface="Calibri" pitchFamily="34" charset="-122"/>
                <a:cs typeface="Calibri" pitchFamily="34" charset="-120"/>
              </a:rPr>
              <a:t>Orchestrator</a:t>
            </a:r>
            <a:endParaRPr lang="en-US" sz="1000" dirty="0"/>
          </a:p>
        </p:txBody>
      </p:sp>
      <p:sp>
        <p:nvSpPr>
          <p:cNvPr id="7" name="Shape 5"/>
          <p:cNvSpPr/>
          <p:nvPr/>
        </p:nvSpPr>
        <p:spPr>
          <a:xfrm>
            <a:off x="4069080" y="1520190"/>
            <a:ext cx="1005840" cy="502920"/>
          </a:xfrm>
          <a:prstGeom prst="ellipse">
            <a:avLst/>
          </a:prstGeom>
          <a:solidFill>
            <a:srgbClr val="1E293B"/>
          </a:solidFill>
          <a:ln w="12700">
            <a:solidFill>
              <a:srgbClr val="64748B"/>
            </a:solidFill>
            <a:prstDash val="solid"/>
          </a:ln>
        </p:spPr>
      </p:sp>
      <p:sp>
        <p:nvSpPr>
          <p:cNvPr id="8" name="Text 6"/>
          <p:cNvSpPr/>
          <p:nvPr/>
        </p:nvSpPr>
        <p:spPr>
          <a:xfrm>
            <a:off x="4069080" y="1611630"/>
            <a:ext cx="1005840" cy="320040"/>
          </a:xfrm>
          <a:prstGeom prst="rect">
            <a:avLst/>
          </a:prstGeom>
          <a:noFill/>
          <a:ln/>
        </p:spPr>
        <p:txBody>
          <a:bodyPr wrap="square"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Inventory RAG</a:t>
            </a:r>
            <a:endParaRPr lang="en-US" sz="800" dirty="0"/>
          </a:p>
        </p:txBody>
      </p:sp>
      <p:sp>
        <p:nvSpPr>
          <p:cNvPr id="9" name="Shape 7"/>
          <p:cNvSpPr/>
          <p:nvPr/>
        </p:nvSpPr>
        <p:spPr>
          <a:xfrm>
            <a:off x="5257999" y="1839121"/>
            <a:ext cx="1005840" cy="502920"/>
          </a:xfrm>
          <a:prstGeom prst="ellipse">
            <a:avLst/>
          </a:prstGeom>
          <a:solidFill>
            <a:srgbClr val="1E293B"/>
          </a:solidFill>
          <a:ln w="12700">
            <a:solidFill>
              <a:srgbClr val="64748B"/>
            </a:solidFill>
            <a:prstDash val="solid"/>
          </a:ln>
        </p:spPr>
      </p:sp>
      <p:sp>
        <p:nvSpPr>
          <p:cNvPr id="10" name="Text 8"/>
          <p:cNvSpPr/>
          <p:nvPr/>
        </p:nvSpPr>
        <p:spPr>
          <a:xfrm>
            <a:off x="5257999" y="1930561"/>
            <a:ext cx="1005840" cy="320040"/>
          </a:xfrm>
          <a:prstGeom prst="rect">
            <a:avLst/>
          </a:prstGeom>
          <a:noFill/>
          <a:ln/>
        </p:spPr>
        <p:txBody>
          <a:bodyPr wrap="square"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Recipe Compiler</a:t>
            </a:r>
            <a:endParaRPr lang="en-US" sz="800" dirty="0"/>
          </a:p>
        </p:txBody>
      </p:sp>
      <p:sp>
        <p:nvSpPr>
          <p:cNvPr id="11" name="Shape 9"/>
          <p:cNvSpPr/>
          <p:nvPr/>
        </p:nvSpPr>
        <p:spPr>
          <a:xfrm>
            <a:off x="5526430" y="2135235"/>
            <a:ext cx="1005840" cy="502920"/>
          </a:xfrm>
          <a:prstGeom prst="ellipse">
            <a:avLst/>
          </a:prstGeom>
          <a:solidFill>
            <a:srgbClr val="1E293B"/>
          </a:solidFill>
          <a:ln w="12700">
            <a:solidFill>
              <a:srgbClr val="64748B"/>
            </a:solidFill>
            <a:prstDash val="solid"/>
          </a:ln>
        </p:spPr>
      </p:sp>
      <p:sp>
        <p:nvSpPr>
          <p:cNvPr id="12" name="Text 10"/>
          <p:cNvSpPr/>
          <p:nvPr/>
        </p:nvSpPr>
        <p:spPr>
          <a:xfrm>
            <a:off x="5526430" y="2226675"/>
            <a:ext cx="1005840" cy="320040"/>
          </a:xfrm>
          <a:prstGeom prst="rect">
            <a:avLst/>
          </a:prstGeom>
          <a:noFill/>
          <a:ln/>
        </p:spPr>
        <p:txBody>
          <a:bodyPr wrap="square"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Route Optimizer</a:t>
            </a:r>
            <a:endParaRPr lang="en-US" sz="800" dirty="0"/>
          </a:p>
        </p:txBody>
      </p:sp>
      <p:sp>
        <p:nvSpPr>
          <p:cNvPr id="13" name="Shape 11"/>
          <p:cNvSpPr/>
          <p:nvPr/>
        </p:nvSpPr>
        <p:spPr>
          <a:xfrm>
            <a:off x="5526430" y="2564781"/>
            <a:ext cx="1005840" cy="502920"/>
          </a:xfrm>
          <a:prstGeom prst="ellipse">
            <a:avLst/>
          </a:prstGeom>
          <a:solidFill>
            <a:srgbClr val="1E293B"/>
          </a:solidFill>
          <a:ln w="12700">
            <a:solidFill>
              <a:srgbClr val="64748B"/>
            </a:solidFill>
            <a:prstDash val="solid"/>
          </a:ln>
        </p:spPr>
      </p:sp>
      <p:sp>
        <p:nvSpPr>
          <p:cNvPr id="14" name="Text 12"/>
          <p:cNvSpPr/>
          <p:nvPr/>
        </p:nvSpPr>
        <p:spPr>
          <a:xfrm>
            <a:off x="5526430" y="2656221"/>
            <a:ext cx="1005840" cy="320040"/>
          </a:xfrm>
          <a:prstGeom prst="rect">
            <a:avLst/>
          </a:prstGeom>
          <a:noFill/>
          <a:ln/>
        </p:spPr>
        <p:txBody>
          <a:bodyPr wrap="square"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Price Catalog</a:t>
            </a:r>
            <a:endParaRPr lang="en-US" sz="800" dirty="0"/>
          </a:p>
        </p:txBody>
      </p:sp>
      <p:sp>
        <p:nvSpPr>
          <p:cNvPr id="15" name="Shape 13"/>
          <p:cNvSpPr/>
          <p:nvPr/>
        </p:nvSpPr>
        <p:spPr>
          <a:xfrm>
            <a:off x="5257999" y="2860895"/>
            <a:ext cx="1005840" cy="502920"/>
          </a:xfrm>
          <a:prstGeom prst="ellipse">
            <a:avLst/>
          </a:prstGeom>
          <a:solidFill>
            <a:srgbClr val="1E293B"/>
          </a:solidFill>
          <a:ln w="12700">
            <a:solidFill>
              <a:srgbClr val="64748B"/>
            </a:solidFill>
            <a:prstDash val="solid"/>
          </a:ln>
        </p:spPr>
      </p:sp>
      <p:sp>
        <p:nvSpPr>
          <p:cNvPr id="16" name="Text 14"/>
          <p:cNvSpPr/>
          <p:nvPr/>
        </p:nvSpPr>
        <p:spPr>
          <a:xfrm>
            <a:off x="5257999" y="2952335"/>
            <a:ext cx="1005840" cy="320040"/>
          </a:xfrm>
          <a:prstGeom prst="rect">
            <a:avLst/>
          </a:prstGeom>
          <a:noFill/>
          <a:ln/>
        </p:spPr>
        <p:txBody>
          <a:bodyPr wrap="square"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Sensory Decay</a:t>
            </a:r>
            <a:endParaRPr lang="en-US" sz="800" dirty="0"/>
          </a:p>
        </p:txBody>
      </p:sp>
      <p:sp>
        <p:nvSpPr>
          <p:cNvPr id="17" name="Shape 15"/>
          <p:cNvSpPr/>
          <p:nvPr/>
        </p:nvSpPr>
        <p:spPr>
          <a:xfrm>
            <a:off x="4069080" y="3179826"/>
            <a:ext cx="1005840" cy="502920"/>
          </a:xfrm>
          <a:prstGeom prst="ellipse">
            <a:avLst/>
          </a:prstGeom>
          <a:solidFill>
            <a:srgbClr val="1E293B"/>
          </a:solidFill>
          <a:ln w="12700">
            <a:solidFill>
              <a:srgbClr val="64748B"/>
            </a:solidFill>
            <a:prstDash val="solid"/>
          </a:ln>
        </p:spPr>
      </p:sp>
      <p:sp>
        <p:nvSpPr>
          <p:cNvPr id="18" name="Text 16"/>
          <p:cNvSpPr/>
          <p:nvPr/>
        </p:nvSpPr>
        <p:spPr>
          <a:xfrm>
            <a:off x="4069080" y="3271266"/>
            <a:ext cx="1005840" cy="320040"/>
          </a:xfrm>
          <a:prstGeom prst="rect">
            <a:avLst/>
          </a:prstGeom>
          <a:noFill/>
          <a:ln/>
        </p:spPr>
        <p:txBody>
          <a:bodyPr wrap="square"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Dietary Guard</a:t>
            </a:r>
            <a:endParaRPr lang="en-US" sz="800" dirty="0"/>
          </a:p>
        </p:txBody>
      </p:sp>
      <p:sp>
        <p:nvSpPr>
          <p:cNvPr id="19" name="Shape 17"/>
          <p:cNvSpPr/>
          <p:nvPr/>
        </p:nvSpPr>
        <p:spPr>
          <a:xfrm>
            <a:off x="2880161" y="2860895"/>
            <a:ext cx="1005840" cy="502920"/>
          </a:xfrm>
          <a:prstGeom prst="ellipse">
            <a:avLst/>
          </a:prstGeom>
          <a:solidFill>
            <a:srgbClr val="1E293B"/>
          </a:solidFill>
          <a:ln w="12700">
            <a:solidFill>
              <a:srgbClr val="64748B"/>
            </a:solidFill>
            <a:prstDash val="solid"/>
          </a:ln>
        </p:spPr>
      </p:sp>
      <p:sp>
        <p:nvSpPr>
          <p:cNvPr id="20" name="Text 18"/>
          <p:cNvSpPr/>
          <p:nvPr/>
        </p:nvSpPr>
        <p:spPr>
          <a:xfrm>
            <a:off x="2880161" y="2952335"/>
            <a:ext cx="1005840" cy="320040"/>
          </a:xfrm>
          <a:prstGeom prst="rect">
            <a:avLst/>
          </a:prstGeom>
          <a:noFill/>
          <a:ln/>
        </p:spPr>
        <p:txBody>
          <a:bodyPr wrap="square"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Crisis Intel</a:t>
            </a:r>
            <a:endParaRPr lang="en-US" sz="800" dirty="0"/>
          </a:p>
        </p:txBody>
      </p:sp>
      <p:sp>
        <p:nvSpPr>
          <p:cNvPr id="21" name="Shape 19"/>
          <p:cNvSpPr/>
          <p:nvPr/>
        </p:nvSpPr>
        <p:spPr>
          <a:xfrm>
            <a:off x="352044" y="4160520"/>
            <a:ext cx="1600200" cy="502920"/>
          </a:xfrm>
          <a:prstGeom prst="rect">
            <a:avLst>
              <a:gd name="adj" fmla="val 10909"/>
            </a:avLst>
          </a:prstGeom>
          <a:solidFill>
            <a:srgbClr val="1E293B"/>
          </a:solidFill>
          <a:ln w="12700">
            <a:solidFill>
              <a:srgbClr val="22C55E"/>
            </a:solidFill>
            <a:prstDash val="solid"/>
          </a:ln>
        </p:spPr>
      </p:sp>
      <p:sp>
        <p:nvSpPr>
          <p:cNvPr id="22" name="Text 20"/>
          <p:cNvSpPr/>
          <p:nvPr/>
        </p:nvSpPr>
        <p:spPr>
          <a:xfrm>
            <a:off x="352044" y="4224528"/>
            <a:ext cx="1600200" cy="411480"/>
          </a:xfrm>
          <a:prstGeom prst="rect">
            <a:avLst/>
          </a:prstGeom>
          <a:noFill/>
          <a:ln/>
        </p:spPr>
        <p:txBody>
          <a:bodyPr wrap="square" rtlCol="0" anchor="ctr"/>
          <a:lstStyle/>
          <a:p>
            <a:pPr algn="ctr" indent="0" marL="0">
              <a:buNone/>
            </a:pPr>
            <a:r>
              <a:rPr lang="en-US" sz="900" dirty="0">
                <a:solidFill>
                  <a:srgbClr val="F8FAFC"/>
                </a:solidFill>
                <a:latin typeface="Calibri" pitchFamily="34" charset="0"/>
                <a:ea typeface="Calibri" pitchFamily="34" charset="-122"/>
                <a:cs typeface="Calibri" pitchFamily="34" charset="-120"/>
              </a:rPr>
              <a:t>9 specialist agents</a:t>
            </a:r>
            <a:endParaRPr lang="en-US" sz="900" dirty="0"/>
          </a:p>
        </p:txBody>
      </p:sp>
      <p:sp>
        <p:nvSpPr>
          <p:cNvPr id="23" name="Shape 21"/>
          <p:cNvSpPr/>
          <p:nvPr/>
        </p:nvSpPr>
        <p:spPr>
          <a:xfrm>
            <a:off x="2061972" y="4160520"/>
            <a:ext cx="1600200" cy="502920"/>
          </a:xfrm>
          <a:prstGeom prst="rect">
            <a:avLst>
              <a:gd name="adj" fmla="val 10909"/>
            </a:avLst>
          </a:prstGeom>
          <a:solidFill>
            <a:srgbClr val="1E293B"/>
          </a:solidFill>
          <a:ln w="12700">
            <a:solidFill>
              <a:srgbClr val="22C55E"/>
            </a:solidFill>
            <a:prstDash val="solid"/>
          </a:ln>
        </p:spPr>
      </p:sp>
      <p:sp>
        <p:nvSpPr>
          <p:cNvPr id="24" name="Text 22"/>
          <p:cNvSpPr/>
          <p:nvPr/>
        </p:nvSpPr>
        <p:spPr>
          <a:xfrm>
            <a:off x="2061972" y="4224528"/>
            <a:ext cx="1600200" cy="411480"/>
          </a:xfrm>
          <a:prstGeom prst="rect">
            <a:avLst/>
          </a:prstGeom>
          <a:noFill/>
          <a:ln/>
        </p:spPr>
        <p:txBody>
          <a:bodyPr wrap="square" rtlCol="0" anchor="ctr"/>
          <a:lstStyle/>
          <a:p>
            <a:pPr algn="ctr" indent="0" marL="0">
              <a:buNone/>
            </a:pPr>
            <a:r>
              <a:rPr lang="en-US" sz="900" dirty="0">
                <a:solidFill>
                  <a:srgbClr val="F8FAFC"/>
                </a:solidFill>
                <a:latin typeface="Calibri" pitchFamily="34" charset="0"/>
                <a:ea typeface="Calibri" pitchFamily="34" charset="-122"/>
                <a:cs typeface="Calibri" pitchFamily="34" charset="-120"/>
              </a:rPr>
              <a:t>pgvector pantry memory</a:t>
            </a:r>
            <a:endParaRPr lang="en-US" sz="900" dirty="0"/>
          </a:p>
        </p:txBody>
      </p:sp>
      <p:sp>
        <p:nvSpPr>
          <p:cNvPr id="25" name="Shape 23"/>
          <p:cNvSpPr/>
          <p:nvPr/>
        </p:nvSpPr>
        <p:spPr>
          <a:xfrm>
            <a:off x="3771900" y="4160520"/>
            <a:ext cx="1600200" cy="502920"/>
          </a:xfrm>
          <a:prstGeom prst="rect">
            <a:avLst>
              <a:gd name="adj" fmla="val 10909"/>
            </a:avLst>
          </a:prstGeom>
          <a:solidFill>
            <a:srgbClr val="1E293B"/>
          </a:solidFill>
          <a:ln w="12700">
            <a:solidFill>
              <a:srgbClr val="22C55E"/>
            </a:solidFill>
            <a:prstDash val="solid"/>
          </a:ln>
        </p:spPr>
      </p:sp>
      <p:sp>
        <p:nvSpPr>
          <p:cNvPr id="26" name="Text 24"/>
          <p:cNvSpPr/>
          <p:nvPr/>
        </p:nvSpPr>
        <p:spPr>
          <a:xfrm>
            <a:off x="3771900" y="4224528"/>
            <a:ext cx="1600200" cy="411480"/>
          </a:xfrm>
          <a:prstGeom prst="rect">
            <a:avLst/>
          </a:prstGeom>
          <a:noFill/>
          <a:ln/>
        </p:spPr>
        <p:txBody>
          <a:bodyPr wrap="square" rtlCol="0" anchor="ctr"/>
          <a:lstStyle/>
          <a:p>
            <a:pPr algn="ctr" indent="0" marL="0">
              <a:buNone/>
            </a:pPr>
            <a:r>
              <a:rPr lang="en-US" sz="900" dirty="0">
                <a:solidFill>
                  <a:srgbClr val="F8FAFC"/>
                </a:solidFill>
                <a:latin typeface="Calibri" pitchFamily="34" charset="0"/>
                <a:ea typeface="Calibri" pitchFamily="34" charset="-122"/>
                <a:cs typeface="Calibri" pitchFamily="34" charset="-120"/>
              </a:rPr>
              <a:t>live 3-store price pipeline</a:t>
            </a:r>
            <a:endParaRPr lang="en-US" sz="900" dirty="0"/>
          </a:p>
        </p:txBody>
      </p:sp>
      <p:sp>
        <p:nvSpPr>
          <p:cNvPr id="27" name="Shape 25"/>
          <p:cNvSpPr/>
          <p:nvPr/>
        </p:nvSpPr>
        <p:spPr>
          <a:xfrm>
            <a:off x="5481828" y="4160520"/>
            <a:ext cx="1600200" cy="502920"/>
          </a:xfrm>
          <a:prstGeom prst="rect">
            <a:avLst>
              <a:gd name="adj" fmla="val 10909"/>
            </a:avLst>
          </a:prstGeom>
          <a:solidFill>
            <a:srgbClr val="1E293B"/>
          </a:solidFill>
          <a:ln w="12700">
            <a:solidFill>
              <a:srgbClr val="22C55E"/>
            </a:solidFill>
            <a:prstDash val="solid"/>
          </a:ln>
        </p:spPr>
      </p:sp>
      <p:sp>
        <p:nvSpPr>
          <p:cNvPr id="28" name="Text 26"/>
          <p:cNvSpPr/>
          <p:nvPr/>
        </p:nvSpPr>
        <p:spPr>
          <a:xfrm>
            <a:off x="5481828" y="4224528"/>
            <a:ext cx="1600200" cy="411480"/>
          </a:xfrm>
          <a:prstGeom prst="rect">
            <a:avLst/>
          </a:prstGeom>
          <a:noFill/>
          <a:ln/>
        </p:spPr>
        <p:txBody>
          <a:bodyPr wrap="square" rtlCol="0" anchor="ctr"/>
          <a:lstStyle/>
          <a:p>
            <a:pPr algn="ctr" indent="0" marL="0">
              <a:buNone/>
            </a:pPr>
            <a:r>
              <a:rPr lang="en-US" sz="900" dirty="0">
                <a:solidFill>
                  <a:srgbClr val="F8FAFC"/>
                </a:solidFill>
                <a:latin typeface="Calibri" pitchFamily="34" charset="0"/>
                <a:ea typeface="Calibri" pitchFamily="34" charset="-122"/>
                <a:cs typeface="Calibri" pitchFamily="34" charset="-120"/>
              </a:rPr>
              <a:t>rules before AI</a:t>
            </a:r>
            <a:endParaRPr lang="en-US" sz="900" dirty="0"/>
          </a:p>
        </p:txBody>
      </p:sp>
      <p:sp>
        <p:nvSpPr>
          <p:cNvPr id="29" name="Shape 27"/>
          <p:cNvSpPr/>
          <p:nvPr/>
        </p:nvSpPr>
        <p:spPr>
          <a:xfrm>
            <a:off x="7191756" y="4160520"/>
            <a:ext cx="1600200" cy="502920"/>
          </a:xfrm>
          <a:prstGeom prst="rect">
            <a:avLst>
              <a:gd name="adj" fmla="val 10909"/>
            </a:avLst>
          </a:prstGeom>
          <a:solidFill>
            <a:srgbClr val="1E293B"/>
          </a:solidFill>
          <a:ln w="12700">
            <a:solidFill>
              <a:srgbClr val="22C55E"/>
            </a:solidFill>
            <a:prstDash val="solid"/>
          </a:ln>
        </p:spPr>
      </p:sp>
      <p:sp>
        <p:nvSpPr>
          <p:cNvPr id="30" name="Text 28"/>
          <p:cNvSpPr/>
          <p:nvPr/>
        </p:nvSpPr>
        <p:spPr>
          <a:xfrm>
            <a:off x="7191756" y="4224528"/>
            <a:ext cx="1600200" cy="411480"/>
          </a:xfrm>
          <a:prstGeom prst="rect">
            <a:avLst/>
          </a:prstGeom>
          <a:noFill/>
          <a:ln/>
        </p:spPr>
        <p:txBody>
          <a:bodyPr wrap="square" rtlCol="0" anchor="ctr"/>
          <a:lstStyle/>
          <a:p>
            <a:pPr algn="ctr" indent="0" marL="0">
              <a:buNone/>
            </a:pPr>
            <a:r>
              <a:rPr lang="en-US" sz="900" dirty="0">
                <a:solidFill>
                  <a:srgbClr val="F8FAFC"/>
                </a:solidFill>
                <a:latin typeface="Calibri" pitchFamily="34" charset="0"/>
                <a:ea typeface="Calibri" pitchFamily="34" charset="-122"/>
                <a:cs typeface="Calibri" pitchFamily="34" charset="-120"/>
              </a:rPr>
              <a:t>full fallback chain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256032"/>
            <a:ext cx="1828800" cy="320040"/>
          </a:xfrm>
          <a:prstGeom prst="rect">
            <a:avLst/>
          </a:prstGeom>
          <a:noFill/>
          <a:ln/>
        </p:spPr>
        <p:txBody>
          <a:bodyPr wrap="square" rtlCol="0" anchor="ctr"/>
          <a:lstStyle/>
          <a:p>
            <a:pPr indent="0" marL="0">
              <a:buNone/>
            </a:pPr>
            <a:r>
              <a:rPr lang="en-US" sz="1100" b="1" i="1" dirty="0">
                <a:solidFill>
                  <a:srgbClr val="22C55E"/>
                </a:solidFill>
                <a:latin typeface="Calibri" pitchFamily="34" charset="0"/>
                <a:ea typeface="Calibri" pitchFamily="34" charset="-122"/>
                <a:cs typeface="Calibri" pitchFamily="34" charset="-120"/>
              </a:rPr>
              <a:t>plango AI</a:t>
            </a:r>
            <a:endParaRPr lang="en-US" sz="1100" dirty="0"/>
          </a:p>
        </p:txBody>
      </p:sp>
      <p:sp>
        <p:nvSpPr>
          <p:cNvPr id="3" name="Text 1"/>
          <p:cNvSpPr/>
          <p:nvPr/>
        </p:nvSpPr>
        <p:spPr>
          <a:xfrm>
            <a:off x="8321040" y="256032"/>
            <a:ext cx="457200" cy="32004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4" name="Text 2"/>
          <p:cNvSpPr/>
          <p:nvPr/>
        </p:nvSpPr>
        <p:spPr>
          <a:xfrm>
            <a:off x="502920" y="777240"/>
            <a:ext cx="8138160" cy="685800"/>
          </a:xfrm>
          <a:prstGeom prst="rect">
            <a:avLst/>
          </a:prstGeom>
          <a:noFill/>
          <a:ln/>
        </p:spPr>
        <p:txBody>
          <a:bodyPr wrap="square" rtlCol="0" anchor="ctr"/>
          <a:lstStyle/>
          <a:p>
            <a:pPr indent="0" marL="0">
              <a:buNone/>
            </a:pPr>
            <a:r>
              <a:rPr lang="en-US" sz="3200" b="1" dirty="0">
                <a:solidFill>
                  <a:srgbClr val="F8FAFC"/>
                </a:solidFill>
                <a:latin typeface="Georgia" pitchFamily="34" charset="0"/>
                <a:ea typeface="Georgia" pitchFamily="34" charset="-122"/>
                <a:cs typeface="Georgia" pitchFamily="34" charset="-120"/>
              </a:rPr>
              <a:t>From planner to genius.</a:t>
            </a:r>
            <a:endParaRPr lang="en-US" sz="3200" dirty="0"/>
          </a:p>
        </p:txBody>
      </p:sp>
      <p:sp>
        <p:nvSpPr>
          <p:cNvPr id="5" name="Shape 3"/>
          <p:cNvSpPr/>
          <p:nvPr/>
        </p:nvSpPr>
        <p:spPr>
          <a:xfrm>
            <a:off x="502920" y="1691640"/>
            <a:ext cx="2606040" cy="2011680"/>
          </a:xfrm>
          <a:prstGeom prst="rect">
            <a:avLst>
              <a:gd name="adj" fmla="val 4545"/>
            </a:avLst>
          </a:prstGeom>
          <a:solidFill>
            <a:srgbClr val="14532D"/>
          </a:solidFill>
          <a:ln w="12700">
            <a:solidFill>
              <a:srgbClr val="22C55E"/>
            </a:solidFill>
            <a:prstDash val="solid"/>
          </a:ln>
        </p:spPr>
      </p:sp>
      <p:sp>
        <p:nvSpPr>
          <p:cNvPr id="6" name="Text 4"/>
          <p:cNvSpPr/>
          <p:nvPr/>
        </p:nvSpPr>
        <p:spPr>
          <a:xfrm>
            <a:off x="502920" y="1874520"/>
            <a:ext cx="2606040" cy="411480"/>
          </a:xfrm>
          <a:prstGeom prst="rect">
            <a:avLst/>
          </a:prstGeom>
          <a:noFill/>
          <a:ln/>
        </p:spPr>
        <p:txBody>
          <a:bodyPr wrap="square" rtlCol="0" anchor="ctr"/>
          <a:lstStyle/>
          <a:p>
            <a:pPr algn="ctr" indent="0" marL="0">
              <a:buNone/>
            </a:pPr>
            <a:r>
              <a:rPr lang="en-US" sz="1400" b="1" dirty="0">
                <a:solidFill>
                  <a:srgbClr val="22C55E"/>
                </a:solidFill>
                <a:latin typeface="Calibri" pitchFamily="34" charset="0"/>
                <a:ea typeface="Calibri" pitchFamily="34" charset="-122"/>
                <a:cs typeface="Calibri" pitchFamily="34" charset="-120"/>
              </a:rPr>
              <a:t>TODAY</a:t>
            </a:r>
            <a:endParaRPr lang="en-US" sz="1400" dirty="0"/>
          </a:p>
        </p:txBody>
      </p:sp>
      <p:sp>
        <p:nvSpPr>
          <p:cNvPr id="7" name="Text 5"/>
          <p:cNvSpPr/>
          <p:nvPr/>
        </p:nvSpPr>
        <p:spPr>
          <a:xfrm>
            <a:off x="502920" y="2423160"/>
            <a:ext cx="2606040" cy="914400"/>
          </a:xfrm>
          <a:prstGeom prst="rect">
            <a:avLst/>
          </a:prstGeom>
          <a:noFill/>
          <a:ln/>
        </p:spPr>
        <p:txBody>
          <a:bodyPr wrap="square" rtlCol="0" anchor="ctr"/>
          <a:lstStyle/>
          <a:p>
            <a:pPr algn="ctr" indent="0" marL="0">
              <a:buNone/>
            </a:pPr>
            <a:r>
              <a:rPr lang="en-US" sz="1600" b="1" dirty="0">
                <a:solidFill>
                  <a:srgbClr val="F8FAFC"/>
                </a:solidFill>
                <a:latin typeface="Calibri" pitchFamily="34" charset="0"/>
                <a:ea typeface="Calibri" pitchFamily="34" charset="-122"/>
                <a:cs typeface="Calibri" pitchFamily="34" charset="-120"/>
              </a:rPr>
              <a:t>Plans when you ask</a:t>
            </a:r>
            <a:endParaRPr lang="en-US" sz="1600" dirty="0"/>
          </a:p>
        </p:txBody>
      </p:sp>
      <p:sp>
        <p:nvSpPr>
          <p:cNvPr id="8" name="Text 6"/>
          <p:cNvSpPr/>
          <p:nvPr/>
        </p:nvSpPr>
        <p:spPr>
          <a:xfrm>
            <a:off x="3108960" y="2286000"/>
            <a:ext cx="274320" cy="457200"/>
          </a:xfrm>
          <a:prstGeom prst="rect">
            <a:avLst/>
          </a:prstGeom>
          <a:noFill/>
          <a:ln/>
        </p:spPr>
        <p:txBody>
          <a:bodyPr wrap="square" rtlCol="0" anchor="ctr"/>
          <a:lstStyle/>
          <a:p>
            <a:pPr algn="ctr" indent="0" marL="0">
              <a:buNone/>
            </a:pPr>
            <a:r>
              <a:rPr lang="en-US" sz="2400" dirty="0">
                <a:solidFill>
                  <a:srgbClr val="64748B"/>
                </a:solidFill>
              </a:rPr>
              <a:t>→</a:t>
            </a:r>
            <a:endParaRPr lang="en-US" sz="2400" dirty="0"/>
          </a:p>
        </p:txBody>
      </p:sp>
      <p:sp>
        <p:nvSpPr>
          <p:cNvPr id="9" name="Shape 7"/>
          <p:cNvSpPr/>
          <p:nvPr/>
        </p:nvSpPr>
        <p:spPr>
          <a:xfrm>
            <a:off x="3383280" y="1691640"/>
            <a:ext cx="2606040" cy="2011680"/>
          </a:xfrm>
          <a:prstGeom prst="rect">
            <a:avLst>
              <a:gd name="adj" fmla="val 4545"/>
            </a:avLst>
          </a:prstGeom>
          <a:solidFill>
            <a:srgbClr val="1E293B"/>
          </a:solidFill>
          <a:ln w="12700">
            <a:solidFill>
              <a:srgbClr val="64748B"/>
            </a:solidFill>
            <a:prstDash val="solid"/>
          </a:ln>
        </p:spPr>
      </p:sp>
      <p:sp>
        <p:nvSpPr>
          <p:cNvPr id="10" name="Text 8"/>
          <p:cNvSpPr/>
          <p:nvPr/>
        </p:nvSpPr>
        <p:spPr>
          <a:xfrm>
            <a:off x="3383280" y="1874520"/>
            <a:ext cx="2606040" cy="411480"/>
          </a:xfrm>
          <a:prstGeom prst="rect">
            <a:avLst/>
          </a:prstGeom>
          <a:noFill/>
          <a:ln/>
        </p:spPr>
        <p:txBody>
          <a:bodyPr wrap="square" rtlCol="0" anchor="ctr"/>
          <a:lstStyle/>
          <a:p>
            <a:pPr algn="ctr" indent="0" marL="0">
              <a:buNone/>
            </a:pPr>
            <a:r>
              <a:rPr lang="en-US" sz="1400" b="1" dirty="0">
                <a:solidFill>
                  <a:srgbClr val="94A3B8"/>
                </a:solidFill>
                <a:latin typeface="Calibri" pitchFamily="34" charset="0"/>
                <a:ea typeface="Calibri" pitchFamily="34" charset="-122"/>
                <a:cs typeface="Calibri" pitchFamily="34" charset="-120"/>
              </a:rPr>
              <a:t>NEXT</a:t>
            </a:r>
            <a:endParaRPr lang="en-US" sz="1400" dirty="0"/>
          </a:p>
        </p:txBody>
      </p:sp>
      <p:sp>
        <p:nvSpPr>
          <p:cNvPr id="11" name="Text 9"/>
          <p:cNvSpPr/>
          <p:nvPr/>
        </p:nvSpPr>
        <p:spPr>
          <a:xfrm>
            <a:off x="3383280" y="2423160"/>
            <a:ext cx="2606040" cy="914400"/>
          </a:xfrm>
          <a:prstGeom prst="rect">
            <a:avLst/>
          </a:prstGeom>
          <a:noFill/>
          <a:ln/>
        </p:spPr>
        <p:txBody>
          <a:bodyPr wrap="square" rtlCol="0" anchor="ctr"/>
          <a:lstStyle/>
          <a:p>
            <a:pPr algn="ctr" indent="0" marL="0">
              <a:buNone/>
            </a:pPr>
            <a:r>
              <a:rPr lang="en-US" sz="1600" b="1" dirty="0">
                <a:solidFill>
                  <a:srgbClr val="F8FAFC"/>
                </a:solidFill>
                <a:latin typeface="Calibri" pitchFamily="34" charset="0"/>
                <a:ea typeface="Calibri" pitchFamily="34" charset="-122"/>
                <a:cs typeface="Calibri" pitchFamily="34" charset="-120"/>
              </a:rPr>
              <a:t>Anticipates before you ask</a:t>
            </a:r>
            <a:endParaRPr lang="en-US" sz="1600" dirty="0"/>
          </a:p>
        </p:txBody>
      </p:sp>
      <p:sp>
        <p:nvSpPr>
          <p:cNvPr id="12" name="Text 10"/>
          <p:cNvSpPr/>
          <p:nvPr/>
        </p:nvSpPr>
        <p:spPr>
          <a:xfrm>
            <a:off x="5989320" y="2286000"/>
            <a:ext cx="274320" cy="457200"/>
          </a:xfrm>
          <a:prstGeom prst="rect">
            <a:avLst/>
          </a:prstGeom>
          <a:noFill/>
          <a:ln/>
        </p:spPr>
        <p:txBody>
          <a:bodyPr wrap="square" rtlCol="0" anchor="ctr"/>
          <a:lstStyle/>
          <a:p>
            <a:pPr algn="ctr" indent="0" marL="0">
              <a:buNone/>
            </a:pPr>
            <a:r>
              <a:rPr lang="en-US" sz="2400" dirty="0">
                <a:solidFill>
                  <a:srgbClr val="64748B"/>
                </a:solidFill>
              </a:rPr>
              <a:t>→</a:t>
            </a:r>
            <a:endParaRPr lang="en-US" sz="2400" dirty="0"/>
          </a:p>
        </p:txBody>
      </p:sp>
      <p:sp>
        <p:nvSpPr>
          <p:cNvPr id="13" name="Shape 11"/>
          <p:cNvSpPr/>
          <p:nvPr/>
        </p:nvSpPr>
        <p:spPr>
          <a:xfrm>
            <a:off x="6263640" y="1691640"/>
            <a:ext cx="2606040" cy="2011680"/>
          </a:xfrm>
          <a:prstGeom prst="rect">
            <a:avLst>
              <a:gd name="adj" fmla="val 4545"/>
            </a:avLst>
          </a:prstGeom>
          <a:solidFill>
            <a:srgbClr val="1E293B"/>
          </a:solidFill>
          <a:ln w="12700">
            <a:solidFill>
              <a:srgbClr val="64748B"/>
            </a:solidFill>
            <a:prstDash val="solid"/>
          </a:ln>
        </p:spPr>
      </p:sp>
      <p:sp>
        <p:nvSpPr>
          <p:cNvPr id="14" name="Text 12"/>
          <p:cNvSpPr/>
          <p:nvPr/>
        </p:nvSpPr>
        <p:spPr>
          <a:xfrm>
            <a:off x="6263640" y="1874520"/>
            <a:ext cx="2606040" cy="411480"/>
          </a:xfrm>
          <a:prstGeom prst="rect">
            <a:avLst/>
          </a:prstGeom>
          <a:noFill/>
          <a:ln/>
        </p:spPr>
        <p:txBody>
          <a:bodyPr wrap="square" rtlCol="0" anchor="ctr"/>
          <a:lstStyle/>
          <a:p>
            <a:pPr algn="ctr" indent="0" marL="0">
              <a:buNone/>
            </a:pPr>
            <a:r>
              <a:rPr lang="en-US" sz="1400" b="1" dirty="0">
                <a:solidFill>
                  <a:srgbClr val="94A3B8"/>
                </a:solidFill>
                <a:latin typeface="Calibri" pitchFamily="34" charset="0"/>
                <a:ea typeface="Calibri" pitchFamily="34" charset="-122"/>
                <a:cs typeface="Calibri" pitchFamily="34" charset="-120"/>
              </a:rPr>
              <a:t>THEN</a:t>
            </a:r>
            <a:endParaRPr lang="en-US" sz="1400" dirty="0"/>
          </a:p>
        </p:txBody>
      </p:sp>
      <p:sp>
        <p:nvSpPr>
          <p:cNvPr id="15" name="Text 13"/>
          <p:cNvSpPr/>
          <p:nvPr/>
        </p:nvSpPr>
        <p:spPr>
          <a:xfrm>
            <a:off x="6263640" y="2423160"/>
            <a:ext cx="2606040" cy="914400"/>
          </a:xfrm>
          <a:prstGeom prst="rect">
            <a:avLst/>
          </a:prstGeom>
          <a:noFill/>
          <a:ln/>
        </p:spPr>
        <p:txBody>
          <a:bodyPr wrap="square" rtlCol="0" anchor="ctr"/>
          <a:lstStyle/>
          <a:p>
            <a:pPr algn="ctr" indent="0" marL="0">
              <a:buNone/>
            </a:pPr>
            <a:r>
              <a:rPr lang="en-US" sz="1600" b="1" dirty="0">
                <a:solidFill>
                  <a:srgbClr val="F8FAFC"/>
                </a:solidFill>
                <a:latin typeface="Calibri" pitchFamily="34" charset="0"/>
                <a:ea typeface="Calibri" pitchFamily="34" charset="-122"/>
                <a:cs typeface="Calibri" pitchFamily="34" charset="-120"/>
              </a:rPr>
              <a:t>Orders for you</a:t>
            </a:r>
            <a:endParaRPr lang="en-US" sz="1600" dirty="0"/>
          </a:p>
        </p:txBody>
      </p:sp>
      <p:sp>
        <p:nvSpPr>
          <p:cNvPr id="16" name="Text 14"/>
          <p:cNvSpPr/>
          <p:nvPr/>
        </p:nvSpPr>
        <p:spPr>
          <a:xfrm>
            <a:off x="502920" y="3977640"/>
            <a:ext cx="8138160" cy="36576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WhatsApp · Voice in Sinhala &amp; Tamil · Retailer partnerships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256032"/>
            <a:ext cx="1828800" cy="320040"/>
          </a:xfrm>
          <a:prstGeom prst="rect">
            <a:avLst/>
          </a:prstGeom>
          <a:noFill/>
          <a:ln/>
        </p:spPr>
        <p:txBody>
          <a:bodyPr wrap="square" rtlCol="0" anchor="ctr"/>
          <a:lstStyle/>
          <a:p>
            <a:pPr indent="0" marL="0">
              <a:buNone/>
            </a:pPr>
            <a:r>
              <a:rPr lang="en-US" sz="1100" b="1" i="1" dirty="0">
                <a:solidFill>
                  <a:srgbClr val="22C55E"/>
                </a:solidFill>
                <a:latin typeface="Calibri" pitchFamily="34" charset="0"/>
                <a:ea typeface="Calibri" pitchFamily="34" charset="-122"/>
                <a:cs typeface="Calibri" pitchFamily="34" charset="-120"/>
              </a:rPr>
              <a:t>plango AI</a:t>
            </a:r>
            <a:endParaRPr lang="en-US" sz="1100" dirty="0"/>
          </a:p>
        </p:txBody>
      </p:sp>
      <p:sp>
        <p:nvSpPr>
          <p:cNvPr id="3" name="Text 1"/>
          <p:cNvSpPr/>
          <p:nvPr/>
        </p:nvSpPr>
        <p:spPr>
          <a:xfrm>
            <a:off x="8321040" y="256032"/>
            <a:ext cx="457200" cy="32004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4" name="Text 2"/>
          <p:cNvSpPr/>
          <p:nvPr/>
        </p:nvSpPr>
        <p:spPr>
          <a:xfrm>
            <a:off x="502920" y="777240"/>
            <a:ext cx="8138160" cy="685800"/>
          </a:xfrm>
          <a:prstGeom prst="rect">
            <a:avLst/>
          </a:prstGeom>
          <a:noFill/>
          <a:ln/>
        </p:spPr>
        <p:txBody>
          <a:bodyPr wrap="square" rtlCol="0" anchor="ctr"/>
          <a:lstStyle/>
          <a:p>
            <a:pPr indent="0" marL="0">
              <a:buNone/>
            </a:pPr>
            <a:r>
              <a:rPr lang="en-US" sz="3200" b="1" dirty="0">
                <a:solidFill>
                  <a:srgbClr val="F8FAFC"/>
                </a:solidFill>
                <a:latin typeface="Georgia" pitchFamily="34" charset="0"/>
                <a:ea typeface="Georgia" pitchFamily="34" charset="-122"/>
                <a:cs typeface="Georgia" pitchFamily="34" charset="-120"/>
              </a:rPr>
              <a:t>The moat is local.</a:t>
            </a:r>
            <a:endParaRPr lang="en-US" sz="3200" dirty="0"/>
          </a:p>
        </p:txBody>
      </p:sp>
      <p:sp>
        <p:nvSpPr>
          <p:cNvPr id="5" name="Shape 3"/>
          <p:cNvSpPr/>
          <p:nvPr/>
        </p:nvSpPr>
        <p:spPr>
          <a:xfrm>
            <a:off x="502920" y="1600200"/>
            <a:ext cx="8138160" cy="731520"/>
          </a:xfrm>
          <a:prstGeom prst="rect">
            <a:avLst>
              <a:gd name="adj" fmla="val 7500"/>
            </a:avLst>
          </a:prstGeom>
          <a:solidFill>
            <a:srgbClr val="1E293B"/>
          </a:solidFill>
          <a:ln w="12700">
            <a:solidFill>
              <a:srgbClr val="64748B"/>
            </a:solidFill>
            <a:prstDash val="solid"/>
          </a:ln>
        </p:spPr>
      </p:sp>
      <p:sp>
        <p:nvSpPr>
          <p:cNvPr id="6" name="Text 4"/>
          <p:cNvSpPr/>
          <p:nvPr/>
        </p:nvSpPr>
        <p:spPr>
          <a:xfrm>
            <a:off x="685800" y="1764792"/>
            <a:ext cx="7772400" cy="457200"/>
          </a:xfrm>
          <a:prstGeom prst="rect">
            <a:avLst/>
          </a:prstGeom>
          <a:noFill/>
          <a:ln/>
        </p:spPr>
        <p:txBody>
          <a:bodyPr wrap="square" rtlCol="0" anchor="ctr"/>
          <a:lstStyle/>
          <a:p>
            <a:pPr indent="0" marL="0">
              <a:buNone/>
            </a:pPr>
            <a:r>
              <a:rPr lang="en-US" sz="1700" dirty="0">
                <a:solidFill>
                  <a:srgbClr val="F8FAFC"/>
                </a:solidFill>
                <a:latin typeface="Calibri" pitchFamily="34" charset="0"/>
                <a:ea typeface="Calibri" pitchFamily="34" charset="-122"/>
                <a:cs typeface="Calibri" pitchFamily="34" charset="-120"/>
              </a:rPr>
              <a:t>Local data — pola prices, local recipes, crisis patterns</a:t>
            </a:r>
            <a:endParaRPr lang="en-US" sz="1700" dirty="0"/>
          </a:p>
        </p:txBody>
      </p:sp>
      <p:sp>
        <p:nvSpPr>
          <p:cNvPr id="7" name="Shape 5"/>
          <p:cNvSpPr/>
          <p:nvPr/>
        </p:nvSpPr>
        <p:spPr>
          <a:xfrm>
            <a:off x="502920" y="2468880"/>
            <a:ext cx="8138160" cy="731520"/>
          </a:xfrm>
          <a:prstGeom prst="rect">
            <a:avLst>
              <a:gd name="adj" fmla="val 7500"/>
            </a:avLst>
          </a:prstGeom>
          <a:solidFill>
            <a:srgbClr val="1E293B"/>
          </a:solidFill>
          <a:ln w="12700">
            <a:solidFill>
              <a:srgbClr val="64748B"/>
            </a:solidFill>
            <a:prstDash val="solid"/>
          </a:ln>
        </p:spPr>
      </p:sp>
      <p:sp>
        <p:nvSpPr>
          <p:cNvPr id="8" name="Text 6"/>
          <p:cNvSpPr/>
          <p:nvPr/>
        </p:nvSpPr>
        <p:spPr>
          <a:xfrm>
            <a:off x="685800" y="2633472"/>
            <a:ext cx="7772400" cy="457200"/>
          </a:xfrm>
          <a:prstGeom prst="rect">
            <a:avLst/>
          </a:prstGeom>
          <a:noFill/>
          <a:ln/>
        </p:spPr>
        <p:txBody>
          <a:bodyPr wrap="square" rtlCol="0" anchor="ctr"/>
          <a:lstStyle/>
          <a:p>
            <a:pPr indent="0" marL="0">
              <a:buNone/>
            </a:pPr>
            <a:r>
              <a:rPr lang="en-US" sz="1700" dirty="0">
                <a:solidFill>
                  <a:srgbClr val="F8FAFC"/>
                </a:solidFill>
                <a:latin typeface="Calibri" pitchFamily="34" charset="0"/>
                <a:ea typeface="Calibri" pitchFamily="34" charset="-122"/>
                <a:cs typeface="Calibri" pitchFamily="34" charset="-120"/>
              </a:rPr>
              <a:t>Local economics — engineered to run at LKR price points</a:t>
            </a:r>
            <a:endParaRPr lang="en-US" sz="1700" dirty="0"/>
          </a:p>
        </p:txBody>
      </p:sp>
      <p:sp>
        <p:nvSpPr>
          <p:cNvPr id="9" name="Shape 7"/>
          <p:cNvSpPr/>
          <p:nvPr/>
        </p:nvSpPr>
        <p:spPr>
          <a:xfrm>
            <a:off x="502920" y="3337560"/>
            <a:ext cx="8138160" cy="731520"/>
          </a:xfrm>
          <a:prstGeom prst="rect">
            <a:avLst>
              <a:gd name="adj" fmla="val 7500"/>
            </a:avLst>
          </a:prstGeom>
          <a:solidFill>
            <a:srgbClr val="1E293B"/>
          </a:solidFill>
          <a:ln w="12700">
            <a:solidFill>
              <a:srgbClr val="64748B"/>
            </a:solidFill>
            <a:prstDash val="solid"/>
          </a:ln>
        </p:spPr>
      </p:sp>
      <p:sp>
        <p:nvSpPr>
          <p:cNvPr id="10" name="Text 8"/>
          <p:cNvSpPr/>
          <p:nvPr/>
        </p:nvSpPr>
        <p:spPr>
          <a:xfrm>
            <a:off x="685800" y="3502152"/>
            <a:ext cx="7772400" cy="457200"/>
          </a:xfrm>
          <a:prstGeom prst="rect">
            <a:avLst/>
          </a:prstGeom>
          <a:noFill/>
          <a:ln/>
        </p:spPr>
        <p:txBody>
          <a:bodyPr wrap="square" rtlCol="0" anchor="ctr"/>
          <a:lstStyle/>
          <a:p>
            <a:pPr indent="0" marL="0">
              <a:buNone/>
            </a:pPr>
            <a:r>
              <a:rPr lang="en-US" sz="1700" dirty="0">
                <a:solidFill>
                  <a:srgbClr val="F8FAFC"/>
                </a:solidFill>
                <a:latin typeface="Calibri" pitchFamily="34" charset="0"/>
                <a:ea typeface="Calibri" pitchFamily="34" charset="-122"/>
                <a:cs typeface="Calibri" pitchFamily="34" charset="-120"/>
              </a:rPr>
              <a:t>Local trust — on the family's side, across every store</a:t>
            </a:r>
            <a:endParaRPr lang="en-US" sz="1700" dirty="0"/>
          </a:p>
        </p:txBody>
      </p:sp>
      <p:sp>
        <p:nvSpPr>
          <p:cNvPr id="11" name="Text 9"/>
          <p:cNvSpPr/>
          <p:nvPr/>
        </p:nvSpPr>
        <p:spPr>
          <a:xfrm>
            <a:off x="502920" y="4160520"/>
            <a:ext cx="8138160" cy="365760"/>
          </a:xfrm>
          <a:prstGeom prst="rect">
            <a:avLst/>
          </a:prstGeom>
          <a:noFill/>
          <a:ln/>
        </p:spPr>
        <p:txBody>
          <a:bodyPr wrap="square"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5.9M households · groceries = the largest monthly spend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256032"/>
            <a:ext cx="1828800" cy="320040"/>
          </a:xfrm>
          <a:prstGeom prst="rect">
            <a:avLst/>
          </a:prstGeom>
          <a:noFill/>
          <a:ln/>
        </p:spPr>
        <p:txBody>
          <a:bodyPr wrap="square" rtlCol="0" anchor="ctr"/>
          <a:lstStyle/>
          <a:p>
            <a:pPr indent="0" marL="0">
              <a:buNone/>
            </a:pPr>
            <a:r>
              <a:rPr lang="en-US" sz="1100" b="1" i="1" dirty="0">
                <a:solidFill>
                  <a:srgbClr val="22C55E"/>
                </a:solidFill>
                <a:latin typeface="Calibri" pitchFamily="34" charset="0"/>
                <a:ea typeface="Calibri" pitchFamily="34" charset="-122"/>
                <a:cs typeface="Calibri" pitchFamily="34" charset="-120"/>
              </a:rPr>
              <a:t>plango AI</a:t>
            </a:r>
            <a:endParaRPr lang="en-US" sz="1100" dirty="0"/>
          </a:p>
        </p:txBody>
      </p:sp>
      <p:sp>
        <p:nvSpPr>
          <p:cNvPr id="3" name="Text 1"/>
          <p:cNvSpPr/>
          <p:nvPr/>
        </p:nvSpPr>
        <p:spPr>
          <a:xfrm>
            <a:off x="8321040" y="256032"/>
            <a:ext cx="457200" cy="32004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
        <p:nvSpPr>
          <p:cNvPr id="4" name="Text 2"/>
          <p:cNvSpPr/>
          <p:nvPr/>
        </p:nvSpPr>
        <p:spPr>
          <a:xfrm>
            <a:off x="502920" y="777240"/>
            <a:ext cx="8138160" cy="685800"/>
          </a:xfrm>
          <a:prstGeom prst="rect">
            <a:avLst/>
          </a:prstGeom>
          <a:noFill/>
          <a:ln/>
        </p:spPr>
        <p:txBody>
          <a:bodyPr wrap="square" rtlCol="0" anchor="ctr"/>
          <a:lstStyle/>
          <a:p>
            <a:pPr indent="0" marL="0">
              <a:buNone/>
            </a:pPr>
            <a:r>
              <a:rPr lang="en-US" sz="3200" b="1" dirty="0">
                <a:solidFill>
                  <a:srgbClr val="F8FAFC"/>
                </a:solidFill>
                <a:latin typeface="Georgia" pitchFamily="34" charset="0"/>
                <a:ea typeface="Georgia" pitchFamily="34" charset="-122"/>
                <a:cs typeface="Georgia" pitchFamily="34" charset="-120"/>
              </a:rPr>
              <a:t>Team Terrabytes</a:t>
            </a:r>
            <a:endParaRPr lang="en-US" sz="3200" dirty="0"/>
          </a:p>
        </p:txBody>
      </p:sp>
      <p:sp>
        <p:nvSpPr>
          <p:cNvPr id="5" name="Shape 3"/>
          <p:cNvSpPr/>
          <p:nvPr/>
        </p:nvSpPr>
        <p:spPr>
          <a:xfrm>
            <a:off x="502920" y="1600200"/>
            <a:ext cx="1828800" cy="1371600"/>
          </a:xfrm>
          <a:prstGeom prst="rect">
            <a:avLst>
              <a:gd name="adj" fmla="val 5333"/>
            </a:avLst>
          </a:prstGeom>
          <a:solidFill>
            <a:srgbClr val="1E293B"/>
          </a:solidFill>
          <a:ln w="12700">
            <a:solidFill>
              <a:srgbClr val="64748B"/>
            </a:solidFill>
            <a:prstDash val="solid"/>
          </a:ln>
        </p:spPr>
      </p:sp>
      <p:sp>
        <p:nvSpPr>
          <p:cNvPr id="6" name="Shape 4"/>
          <p:cNvSpPr/>
          <p:nvPr/>
        </p:nvSpPr>
        <p:spPr>
          <a:xfrm>
            <a:off x="1005840" y="1783080"/>
            <a:ext cx="822960" cy="822960"/>
          </a:xfrm>
          <a:prstGeom prst="ellipse">
            <a:avLst/>
          </a:prstGeom>
          <a:solidFill>
            <a:srgbClr val="334155"/>
          </a:solidFill>
          <a:ln w="12700">
            <a:solidFill>
              <a:srgbClr val="64748B"/>
            </a:solidFill>
            <a:prstDash val="solid"/>
          </a:ln>
        </p:spPr>
      </p:sp>
      <p:sp>
        <p:nvSpPr>
          <p:cNvPr id="7" name="Text 5"/>
          <p:cNvSpPr/>
          <p:nvPr/>
        </p:nvSpPr>
        <p:spPr>
          <a:xfrm>
            <a:off x="502920" y="2697480"/>
            <a:ext cx="1828800" cy="320040"/>
          </a:xfrm>
          <a:prstGeom prst="rect">
            <a:avLst/>
          </a:prstGeom>
          <a:noFill/>
          <a:ln/>
        </p:spPr>
        <p:txBody>
          <a:bodyPr wrap="square" rtlCol="0" anchor="ctr"/>
          <a:lstStyle/>
          <a:p>
            <a:pPr algn="ctr" indent="0" marL="0">
              <a:buNone/>
            </a:pPr>
            <a:r>
              <a:rPr lang="en-US" sz="1200" b="1" dirty="0">
                <a:solidFill>
                  <a:srgbClr val="F8FAFC"/>
                </a:solidFill>
                <a:latin typeface="Calibri" pitchFamily="34" charset="0"/>
                <a:ea typeface="Calibri" pitchFamily="34" charset="-122"/>
                <a:cs typeface="Calibri" pitchFamily="34" charset="-120"/>
              </a:rPr>
              <a:t>Member 1</a:t>
            </a:r>
            <a:endParaRPr lang="en-US" sz="1200" dirty="0"/>
          </a:p>
        </p:txBody>
      </p:sp>
      <p:sp>
        <p:nvSpPr>
          <p:cNvPr id="8" name="Text 6"/>
          <p:cNvSpPr/>
          <p:nvPr/>
        </p:nvSpPr>
        <p:spPr>
          <a:xfrm>
            <a:off x="502920" y="2971800"/>
            <a:ext cx="1828800" cy="2743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Lead</a:t>
            </a:r>
            <a:endParaRPr lang="en-US" sz="1000" dirty="0"/>
          </a:p>
        </p:txBody>
      </p:sp>
      <p:sp>
        <p:nvSpPr>
          <p:cNvPr id="9" name="Shape 7"/>
          <p:cNvSpPr/>
          <p:nvPr/>
        </p:nvSpPr>
        <p:spPr>
          <a:xfrm>
            <a:off x="2560320" y="1600200"/>
            <a:ext cx="1828800" cy="1371600"/>
          </a:xfrm>
          <a:prstGeom prst="rect">
            <a:avLst>
              <a:gd name="adj" fmla="val 5333"/>
            </a:avLst>
          </a:prstGeom>
          <a:solidFill>
            <a:srgbClr val="1E293B"/>
          </a:solidFill>
          <a:ln w="12700">
            <a:solidFill>
              <a:srgbClr val="64748B"/>
            </a:solidFill>
            <a:prstDash val="solid"/>
          </a:ln>
        </p:spPr>
      </p:sp>
      <p:sp>
        <p:nvSpPr>
          <p:cNvPr id="10" name="Shape 8"/>
          <p:cNvSpPr/>
          <p:nvPr/>
        </p:nvSpPr>
        <p:spPr>
          <a:xfrm>
            <a:off x="3063240" y="1783080"/>
            <a:ext cx="822960" cy="822960"/>
          </a:xfrm>
          <a:prstGeom prst="ellipse">
            <a:avLst/>
          </a:prstGeom>
          <a:solidFill>
            <a:srgbClr val="334155"/>
          </a:solidFill>
          <a:ln w="12700">
            <a:solidFill>
              <a:srgbClr val="64748B"/>
            </a:solidFill>
            <a:prstDash val="solid"/>
          </a:ln>
        </p:spPr>
      </p:sp>
      <p:sp>
        <p:nvSpPr>
          <p:cNvPr id="11" name="Text 9"/>
          <p:cNvSpPr/>
          <p:nvPr/>
        </p:nvSpPr>
        <p:spPr>
          <a:xfrm>
            <a:off x="2560320" y="2697480"/>
            <a:ext cx="1828800" cy="320040"/>
          </a:xfrm>
          <a:prstGeom prst="rect">
            <a:avLst/>
          </a:prstGeom>
          <a:noFill/>
          <a:ln/>
        </p:spPr>
        <p:txBody>
          <a:bodyPr wrap="square" rtlCol="0" anchor="ctr"/>
          <a:lstStyle/>
          <a:p>
            <a:pPr algn="ctr" indent="0" marL="0">
              <a:buNone/>
            </a:pPr>
            <a:r>
              <a:rPr lang="en-US" sz="1200" b="1" dirty="0">
                <a:solidFill>
                  <a:srgbClr val="F8FAFC"/>
                </a:solidFill>
                <a:latin typeface="Calibri" pitchFamily="34" charset="0"/>
                <a:ea typeface="Calibri" pitchFamily="34" charset="-122"/>
                <a:cs typeface="Calibri" pitchFamily="34" charset="-120"/>
              </a:rPr>
              <a:t>Member 2</a:t>
            </a:r>
            <a:endParaRPr lang="en-US" sz="1200" dirty="0"/>
          </a:p>
        </p:txBody>
      </p:sp>
      <p:sp>
        <p:nvSpPr>
          <p:cNvPr id="12" name="Text 10"/>
          <p:cNvSpPr/>
          <p:nvPr/>
        </p:nvSpPr>
        <p:spPr>
          <a:xfrm>
            <a:off x="2560320" y="2971800"/>
            <a:ext cx="1828800" cy="2743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AI</a:t>
            </a:r>
            <a:endParaRPr lang="en-US" sz="1000" dirty="0"/>
          </a:p>
        </p:txBody>
      </p:sp>
      <p:sp>
        <p:nvSpPr>
          <p:cNvPr id="13" name="Shape 11"/>
          <p:cNvSpPr/>
          <p:nvPr/>
        </p:nvSpPr>
        <p:spPr>
          <a:xfrm>
            <a:off x="4617720" y="1600200"/>
            <a:ext cx="1828800" cy="1371600"/>
          </a:xfrm>
          <a:prstGeom prst="rect">
            <a:avLst>
              <a:gd name="adj" fmla="val 5333"/>
            </a:avLst>
          </a:prstGeom>
          <a:solidFill>
            <a:srgbClr val="1E293B"/>
          </a:solidFill>
          <a:ln w="12700">
            <a:solidFill>
              <a:srgbClr val="64748B"/>
            </a:solidFill>
            <a:prstDash val="solid"/>
          </a:ln>
        </p:spPr>
      </p:sp>
      <p:sp>
        <p:nvSpPr>
          <p:cNvPr id="14" name="Shape 12"/>
          <p:cNvSpPr/>
          <p:nvPr/>
        </p:nvSpPr>
        <p:spPr>
          <a:xfrm>
            <a:off x="5120640" y="1783080"/>
            <a:ext cx="822960" cy="822960"/>
          </a:xfrm>
          <a:prstGeom prst="ellipse">
            <a:avLst/>
          </a:prstGeom>
          <a:solidFill>
            <a:srgbClr val="334155"/>
          </a:solidFill>
          <a:ln w="12700">
            <a:solidFill>
              <a:srgbClr val="64748B"/>
            </a:solidFill>
            <a:prstDash val="solid"/>
          </a:ln>
        </p:spPr>
      </p:sp>
      <p:sp>
        <p:nvSpPr>
          <p:cNvPr id="15" name="Text 13"/>
          <p:cNvSpPr/>
          <p:nvPr/>
        </p:nvSpPr>
        <p:spPr>
          <a:xfrm>
            <a:off x="4617720" y="2697480"/>
            <a:ext cx="1828800" cy="320040"/>
          </a:xfrm>
          <a:prstGeom prst="rect">
            <a:avLst/>
          </a:prstGeom>
          <a:noFill/>
          <a:ln/>
        </p:spPr>
        <p:txBody>
          <a:bodyPr wrap="square" rtlCol="0" anchor="ctr"/>
          <a:lstStyle/>
          <a:p>
            <a:pPr algn="ctr" indent="0" marL="0">
              <a:buNone/>
            </a:pPr>
            <a:r>
              <a:rPr lang="en-US" sz="1200" b="1" dirty="0">
                <a:solidFill>
                  <a:srgbClr val="F8FAFC"/>
                </a:solidFill>
                <a:latin typeface="Calibri" pitchFamily="34" charset="0"/>
                <a:ea typeface="Calibri" pitchFamily="34" charset="-122"/>
                <a:cs typeface="Calibri" pitchFamily="34" charset="-120"/>
              </a:rPr>
              <a:t>Member 3</a:t>
            </a:r>
            <a:endParaRPr lang="en-US" sz="1200" dirty="0"/>
          </a:p>
        </p:txBody>
      </p:sp>
      <p:sp>
        <p:nvSpPr>
          <p:cNvPr id="16" name="Text 14"/>
          <p:cNvSpPr/>
          <p:nvPr/>
        </p:nvSpPr>
        <p:spPr>
          <a:xfrm>
            <a:off x="4617720" y="2971800"/>
            <a:ext cx="1828800" cy="2743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Backend</a:t>
            </a:r>
            <a:endParaRPr lang="en-US" sz="1000" dirty="0"/>
          </a:p>
        </p:txBody>
      </p:sp>
      <p:sp>
        <p:nvSpPr>
          <p:cNvPr id="17" name="Shape 15"/>
          <p:cNvSpPr/>
          <p:nvPr/>
        </p:nvSpPr>
        <p:spPr>
          <a:xfrm>
            <a:off x="6675120" y="1600200"/>
            <a:ext cx="1828800" cy="1371600"/>
          </a:xfrm>
          <a:prstGeom prst="rect">
            <a:avLst>
              <a:gd name="adj" fmla="val 5333"/>
            </a:avLst>
          </a:prstGeom>
          <a:solidFill>
            <a:srgbClr val="1E293B"/>
          </a:solidFill>
          <a:ln w="12700">
            <a:solidFill>
              <a:srgbClr val="64748B"/>
            </a:solidFill>
            <a:prstDash val="solid"/>
          </a:ln>
        </p:spPr>
      </p:sp>
      <p:sp>
        <p:nvSpPr>
          <p:cNvPr id="18" name="Shape 16"/>
          <p:cNvSpPr/>
          <p:nvPr/>
        </p:nvSpPr>
        <p:spPr>
          <a:xfrm>
            <a:off x="7178040" y="1783080"/>
            <a:ext cx="822960" cy="822960"/>
          </a:xfrm>
          <a:prstGeom prst="ellipse">
            <a:avLst/>
          </a:prstGeom>
          <a:solidFill>
            <a:srgbClr val="334155"/>
          </a:solidFill>
          <a:ln w="12700">
            <a:solidFill>
              <a:srgbClr val="64748B"/>
            </a:solidFill>
            <a:prstDash val="solid"/>
          </a:ln>
        </p:spPr>
      </p:sp>
      <p:sp>
        <p:nvSpPr>
          <p:cNvPr id="19" name="Text 17"/>
          <p:cNvSpPr/>
          <p:nvPr/>
        </p:nvSpPr>
        <p:spPr>
          <a:xfrm>
            <a:off x="6675120" y="2697480"/>
            <a:ext cx="1828800" cy="320040"/>
          </a:xfrm>
          <a:prstGeom prst="rect">
            <a:avLst/>
          </a:prstGeom>
          <a:noFill/>
          <a:ln/>
        </p:spPr>
        <p:txBody>
          <a:bodyPr wrap="square" rtlCol="0" anchor="ctr"/>
          <a:lstStyle/>
          <a:p>
            <a:pPr algn="ctr" indent="0" marL="0">
              <a:buNone/>
            </a:pPr>
            <a:r>
              <a:rPr lang="en-US" sz="1200" b="1" dirty="0">
                <a:solidFill>
                  <a:srgbClr val="F8FAFC"/>
                </a:solidFill>
                <a:latin typeface="Calibri" pitchFamily="34" charset="0"/>
                <a:ea typeface="Calibri" pitchFamily="34" charset="-122"/>
                <a:cs typeface="Calibri" pitchFamily="34" charset="-120"/>
              </a:rPr>
              <a:t>Member 4</a:t>
            </a:r>
            <a:endParaRPr lang="en-US" sz="1200" dirty="0"/>
          </a:p>
        </p:txBody>
      </p:sp>
      <p:sp>
        <p:nvSpPr>
          <p:cNvPr id="20" name="Text 18"/>
          <p:cNvSpPr/>
          <p:nvPr/>
        </p:nvSpPr>
        <p:spPr>
          <a:xfrm>
            <a:off x="6675120" y="2971800"/>
            <a:ext cx="1828800" cy="2743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Product</a:t>
            </a:r>
            <a:endParaRPr lang="en-US" sz="1000" dirty="0"/>
          </a:p>
        </p:txBody>
      </p:sp>
      <p:sp>
        <p:nvSpPr>
          <p:cNvPr id="21" name="Shape 19"/>
          <p:cNvSpPr/>
          <p:nvPr/>
        </p:nvSpPr>
        <p:spPr>
          <a:xfrm>
            <a:off x="502920" y="3429000"/>
            <a:ext cx="8138160" cy="822960"/>
          </a:xfrm>
          <a:prstGeom prst="rect">
            <a:avLst>
              <a:gd name="adj" fmla="val 8889"/>
            </a:avLst>
          </a:prstGeom>
          <a:solidFill>
            <a:srgbClr val="14532D"/>
          </a:solidFill>
          <a:ln w="12700">
            <a:solidFill>
              <a:srgbClr val="22C55E"/>
            </a:solidFill>
            <a:prstDash val="solid"/>
          </a:ln>
        </p:spPr>
      </p:sp>
      <p:sp>
        <p:nvSpPr>
          <p:cNvPr id="22" name="Text 20"/>
          <p:cNvSpPr/>
          <p:nvPr/>
        </p:nvSpPr>
        <p:spPr>
          <a:xfrm>
            <a:off x="685800" y="3493008"/>
            <a:ext cx="7772400" cy="32004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Idea → 9-agent production system → survived your code review.</a:t>
            </a:r>
            <a:endParaRPr lang="en-US" sz="1400" dirty="0"/>
          </a:p>
        </p:txBody>
      </p:sp>
      <p:sp>
        <p:nvSpPr>
          <p:cNvPr id="23" name="Text 21"/>
          <p:cNvSpPr/>
          <p:nvPr/>
        </p:nvSpPr>
        <p:spPr>
          <a:xfrm>
            <a:off x="685800" y="3794760"/>
            <a:ext cx="7772400" cy="365760"/>
          </a:xfrm>
          <a:prstGeom prst="rect">
            <a:avLst/>
          </a:prstGeom>
          <a:noFill/>
          <a:ln/>
        </p:spPr>
        <p:txBody>
          <a:bodyPr wrap="square" rtlCol="0" anchor="ctr"/>
          <a:lstStyle/>
          <a:p>
            <a:pPr algn="ctr" indent="0" marL="0">
              <a:buNone/>
            </a:pPr>
            <a:r>
              <a:rPr lang="en-US" sz="2000" b="1" dirty="0">
                <a:solidFill>
                  <a:srgbClr val="F8FAFC"/>
                </a:solidFill>
                <a:latin typeface="Calibri" pitchFamily="34" charset="0"/>
                <a:ea typeface="Calibri" pitchFamily="34" charset="-122"/>
                <a:cs typeface="Calibri" pitchFamily="34" charset="-120"/>
              </a:rPr>
              <a:t>The ask: 100 pilot families in Colombo. 90 days.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256032"/>
            <a:ext cx="1828800" cy="320040"/>
          </a:xfrm>
          <a:prstGeom prst="rect">
            <a:avLst/>
          </a:prstGeom>
          <a:noFill/>
          <a:ln/>
        </p:spPr>
        <p:txBody>
          <a:bodyPr wrap="square" rtlCol="0" anchor="ctr"/>
          <a:lstStyle/>
          <a:p>
            <a:pPr indent="0" marL="0">
              <a:buNone/>
            </a:pPr>
            <a:r>
              <a:rPr lang="en-US" sz="1100" b="1" i="1" dirty="0">
                <a:solidFill>
                  <a:srgbClr val="22C55E"/>
                </a:solidFill>
                <a:latin typeface="Calibri" pitchFamily="34" charset="0"/>
                <a:ea typeface="Calibri" pitchFamily="34" charset="-122"/>
                <a:cs typeface="Calibri" pitchFamily="34" charset="-120"/>
              </a:rPr>
              <a:t>plango AI</a:t>
            </a:r>
            <a:endParaRPr lang="en-US" sz="1100" dirty="0"/>
          </a:p>
        </p:txBody>
      </p:sp>
      <p:sp>
        <p:nvSpPr>
          <p:cNvPr id="3" name="Text 1"/>
          <p:cNvSpPr/>
          <p:nvPr/>
        </p:nvSpPr>
        <p:spPr>
          <a:xfrm>
            <a:off x="8321040" y="256032"/>
            <a:ext cx="457200" cy="32004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4" name="Text 2"/>
          <p:cNvSpPr/>
          <p:nvPr/>
        </p:nvSpPr>
        <p:spPr>
          <a:xfrm>
            <a:off x="502920" y="1508760"/>
            <a:ext cx="8138160" cy="914400"/>
          </a:xfrm>
          <a:prstGeom prst="rect">
            <a:avLst/>
          </a:prstGeom>
          <a:noFill/>
          <a:ln/>
        </p:spPr>
        <p:txBody>
          <a:bodyPr wrap="square" rtlCol="0" anchor="ctr"/>
          <a:lstStyle/>
          <a:p>
            <a:pPr algn="ctr" indent="0" marL="0">
              <a:buNone/>
            </a:pPr>
            <a:r>
              <a:rPr lang="en-US" sz="5200" b="1" i="1" dirty="0">
                <a:solidFill>
                  <a:srgbClr val="F8FAFC"/>
                </a:solidFill>
                <a:latin typeface="Georgia" pitchFamily="34" charset="0"/>
                <a:ea typeface="Georgia" pitchFamily="34" charset="-122"/>
                <a:cs typeface="Georgia" pitchFamily="34" charset="-120"/>
              </a:rPr>
              <a:t>plango AI</a:t>
            </a:r>
            <a:endParaRPr lang="en-US" sz="5200" dirty="0"/>
          </a:p>
        </p:txBody>
      </p:sp>
      <p:sp>
        <p:nvSpPr>
          <p:cNvPr id="5" name="Shape 3"/>
          <p:cNvSpPr/>
          <p:nvPr/>
        </p:nvSpPr>
        <p:spPr>
          <a:xfrm>
            <a:off x="502920" y="1417320"/>
            <a:ext cx="1097280" cy="54864"/>
          </a:xfrm>
          <a:prstGeom prst="rect">
            <a:avLst/>
          </a:prstGeom>
          <a:solidFill>
            <a:srgbClr val="22C55E"/>
          </a:solidFill>
          <a:ln w="12700">
            <a:solidFill>
              <a:srgbClr val="22C55E">
                <a:alpha val="0"/>
              </a:srgbClr>
            </a:solidFill>
            <a:prstDash val="solid"/>
          </a:ln>
        </p:spPr>
      </p:sp>
      <p:sp>
        <p:nvSpPr>
          <p:cNvPr id="6" name="Shape 4"/>
          <p:cNvSpPr/>
          <p:nvPr/>
        </p:nvSpPr>
        <p:spPr>
          <a:xfrm>
            <a:off x="4023360" y="1417320"/>
            <a:ext cx="1097280" cy="54864"/>
          </a:xfrm>
          <a:prstGeom prst="rect">
            <a:avLst/>
          </a:prstGeom>
          <a:solidFill>
            <a:srgbClr val="22C55E"/>
          </a:solidFill>
          <a:ln w="12700">
            <a:solidFill>
              <a:srgbClr val="333333">
                <a:alpha val="0"/>
              </a:srgbClr>
            </a:solidFill>
            <a:prstDash val="solid"/>
          </a:ln>
        </p:spPr>
      </p:sp>
      <p:sp>
        <p:nvSpPr>
          <p:cNvPr id="7" name="Text 5"/>
          <p:cNvSpPr/>
          <p:nvPr/>
        </p:nvSpPr>
        <p:spPr>
          <a:xfrm>
            <a:off x="502920" y="2514600"/>
            <a:ext cx="8138160" cy="548640"/>
          </a:xfrm>
          <a:prstGeom prst="rect">
            <a:avLst/>
          </a:prstGeom>
          <a:noFill/>
          <a:ln/>
        </p:spPr>
        <p:txBody>
          <a:bodyPr wrap="square" rtlCol="0" anchor="ctr"/>
          <a:lstStyle/>
          <a:p>
            <a:pPr algn="ctr" indent="0" marL="0">
              <a:buNone/>
            </a:pPr>
            <a:r>
              <a:rPr lang="en-US" sz="2800" b="1" dirty="0">
                <a:solidFill>
                  <a:srgbClr val="22C55E"/>
                </a:solidFill>
                <a:latin typeface="Georgia" pitchFamily="34" charset="0"/>
                <a:ea typeface="Georgia" pitchFamily="34" charset="-122"/>
                <a:cs typeface="Georgia" pitchFamily="34" charset="-120"/>
              </a:rPr>
              <a:t>Sri Lanka's grocery brain.</a:t>
            </a:r>
            <a:endParaRPr lang="en-US" sz="2800" dirty="0"/>
          </a:p>
        </p:txBody>
      </p:sp>
      <p:sp>
        <p:nvSpPr>
          <p:cNvPr id="8" name="Text 6"/>
          <p:cNvSpPr/>
          <p:nvPr/>
        </p:nvSpPr>
        <p:spPr>
          <a:xfrm>
            <a:off x="914400" y="3154680"/>
            <a:ext cx="7315200" cy="731520"/>
          </a:xfrm>
          <a:prstGeom prst="rect">
            <a:avLst/>
          </a:prstGeom>
          <a:noFill/>
          <a:ln/>
        </p:spPr>
        <p:txBody>
          <a:bodyPr wrap="square" rtlCol="0" anchor="ctr"/>
          <a:lstStyle/>
          <a:p>
            <a:pPr algn="ctr" indent="0" marL="0">
              <a:buNone/>
            </a:pPr>
            <a:r>
              <a:rPr lang="en-US" sz="1800" dirty="0">
                <a:solidFill>
                  <a:srgbClr val="94A3B8"/>
                </a:solidFill>
                <a:latin typeface="Calibri" pitchFamily="34" charset="0"/>
                <a:ea typeface="Calibri" pitchFamily="34" charset="-122"/>
                <a:cs typeface="Calibri" pitchFamily="34" charset="-120"/>
              </a:rPr>
              <a:t>Remembers your home. Respects your family. Works through the storm.</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plango AI — Finale Pitch Deck</dc:title>
  <dc:subject>PptxGenJS Presentation</dc:subject>
  <dc:creator>Team Terrabytes</dc:creator>
  <cp:lastModifiedBy>Team Terrabytes</cp:lastModifiedBy>
  <cp:revision>1</cp:revision>
  <dcterms:created xsi:type="dcterms:W3CDTF">2026-07-29T09:08:43Z</dcterms:created>
  <dcterms:modified xsi:type="dcterms:W3CDTF">2026-07-29T09:08:43Z</dcterms:modified>
</cp:coreProperties>
</file>